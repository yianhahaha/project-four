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5" r:id="rId6"/>
    <p:sldId id="266" r:id="rId7"/>
    <p:sldId id="260" r:id="rId8"/>
    <p:sldId id="286" r:id="rId9"/>
    <p:sldId id="276" r:id="rId10"/>
    <p:sldId id="268" r:id="rId11"/>
    <p:sldId id="279" r:id="rId12"/>
    <p:sldId id="284" r:id="rId13"/>
    <p:sldId id="287" r:id="rId14"/>
    <p:sldId id="278" r:id="rId15"/>
    <p:sldId id="293" r:id="rId16"/>
    <p:sldId id="294" r:id="rId17"/>
    <p:sldId id="295" r:id="rId18"/>
    <p:sldId id="290" r:id="rId19"/>
    <p:sldId id="291" r:id="rId20"/>
    <p:sldId id="261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hyperlink" Target="https://github.com/YIANHAHAHA/project-four/tree/master/src/main" TargetMode="Externa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341425" y="0"/>
            <a:ext cx="9799200" cy="2570400"/>
          </a:xfrm>
        </p:spPr>
        <p:txBody>
          <a:bodyPr/>
          <a:p>
            <a:r>
              <a:rPr lang="en-US" altLang="zh-CN">
                <a:solidFill>
                  <a:schemeClr val="accent1"/>
                </a:solidFill>
              </a:rPr>
              <a:t>javaweb</a:t>
            </a:r>
            <a:r>
              <a:rPr lang="zh-CN" altLang="en-US">
                <a:solidFill>
                  <a:schemeClr val="accent1"/>
                </a:solidFill>
              </a:rPr>
              <a:t>翻转课堂</a:t>
            </a:r>
            <a:endParaRPr lang="zh-CN" altLang="zh-CN">
              <a:solidFill>
                <a:schemeClr val="accent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2570348"/>
            <a:ext cx="9799200" cy="4126416"/>
          </a:xfrm>
        </p:spPr>
        <p:txBody>
          <a:bodyPr>
            <a:normAutofit lnSpcReduction="10000"/>
          </a:bodyPr>
          <a:p>
            <a:r>
              <a:rPr lang="zh-CN" altLang="en-US" sz="1800"/>
              <a:t>软件</a:t>
            </a:r>
            <a:r>
              <a:rPr lang="en-US" altLang="zh-CN" sz="1800"/>
              <a:t>4</a:t>
            </a:r>
            <a:r>
              <a:rPr lang="zh-CN" altLang="en-US" sz="1800"/>
              <a:t>班</a:t>
            </a:r>
            <a:r>
              <a:rPr lang="en-US" altLang="zh-CN" sz="1800"/>
              <a:t>4</a:t>
            </a:r>
            <a:r>
              <a:rPr lang="zh-CN" altLang="en-US" sz="1800"/>
              <a:t>组</a:t>
            </a:r>
            <a:endParaRPr lang="zh-CN" altLang="en-US" sz="1800"/>
          </a:p>
          <a:p>
            <a:r>
              <a:rPr lang="zh-CN" altLang="en-US" sz="1800">
                <a:highlight>
                  <a:srgbClr val="FFFF00"/>
                </a:highlight>
              </a:rPr>
              <a:t>组长：</a:t>
            </a:r>
            <a:r>
              <a:rPr lang="zh-CN" altLang="en-US" sz="1800"/>
              <a:t>杨明阳     组员：陈少奇</a:t>
            </a:r>
            <a:endParaRPr lang="zh-CN" altLang="en-US" sz="1800"/>
          </a:p>
          <a:p>
            <a:r>
              <a:rPr lang="zh-CN" altLang="en-US" sz="1800"/>
              <a:t>组员：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uFillTx/>
              </a:rPr>
              <a:t> </a:t>
            </a:r>
            <a:r>
              <a:rPr lang="zh-CN" altLang="en-US" sz="1800"/>
              <a:t>张润洋    组员：徐成祥 </a:t>
            </a:r>
            <a:endParaRPr lang="zh-CN" altLang="en-US" sz="1800"/>
          </a:p>
          <a:p>
            <a:r>
              <a:rPr lang="zh-CN" altLang="en-US" sz="1800"/>
              <a:t>组员：邱宇辰    组员：周皓               </a:t>
            </a:r>
            <a:endParaRPr lang="zh-CN" altLang="en-US" sz="1800"/>
          </a:p>
          <a:p>
            <a:r>
              <a:rPr lang="zh-CN" altLang="en-US" sz="1800"/>
              <a:t>组员：董喾        组员：高擎翔</a:t>
            </a:r>
            <a:endParaRPr lang="zh-CN" altLang="en-US" sz="1800"/>
          </a:p>
          <a:p>
            <a:r>
              <a:rPr lang="zh-CN" altLang="en-US" sz="1800"/>
              <a:t>           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196448" y="280016"/>
            <a:ext cx="9799200" cy="1472400"/>
          </a:xfrm>
        </p:spPr>
        <p:txBody>
          <a:bodyPr>
            <a:normAutofit fontScale="80000"/>
          </a:bodyPr>
          <a:p>
            <a:r>
              <a:rPr lang="zh-CN" altLang="en-US"/>
              <a:t>讲解内容为《</a:t>
            </a:r>
            <a:r>
              <a:rPr lang="en-US" altLang="zh-CN"/>
              <a:t>javaweb</a:t>
            </a:r>
            <a:r>
              <a:rPr lang="zh-CN" altLang="en-US"/>
              <a:t>》课程配套书籍的第</a:t>
            </a:r>
            <a:r>
              <a:rPr lang="en-US" altLang="zh-CN"/>
              <a:t>4</a:t>
            </a:r>
            <a:r>
              <a:rPr lang="zh-CN" altLang="en-US"/>
              <a:t>章相关内容，</a:t>
            </a:r>
            <a:endParaRPr lang="zh-CN" altLang="en-US"/>
          </a:p>
          <a:p>
            <a:r>
              <a:rPr lang="zh-CN" altLang="en-US"/>
              <a:t>本组以学生信息管理系统为案例，同时相关代码已上传到</a:t>
            </a:r>
            <a:r>
              <a:rPr lang="en-US" altLang="zh-CN">
                <a:hlinkClick r:id="rId2"/>
              </a:rPr>
              <a:t>https://github.com/YIANHAHAHA/project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four/tree/master/src/main</a:t>
            </a:r>
            <a:r>
              <a:rPr lang="en-US" altLang="zh-CN"/>
              <a:t> </a:t>
            </a:r>
            <a:r>
              <a:rPr lang="zh-CN" altLang="en-US"/>
              <a:t>网址</a:t>
            </a:r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349970" y="2289423"/>
            <a:ext cx="2408385" cy="302606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r>
              <a:rPr lang="zh-CN" altLang="en-US">
                <a:solidFill>
                  <a:srgbClr val="000000"/>
                </a:solidFill>
              </a:rPr>
              <a:t>该系统根据</a:t>
            </a:r>
            <a:r>
              <a:rPr lang="en-US" altLang="zh-CN">
                <a:solidFill>
                  <a:srgbClr val="000000"/>
                </a:solidFill>
              </a:rPr>
              <a:t>MVC</a:t>
            </a:r>
            <a:r>
              <a:rPr lang="zh-CN" altLang="en-US">
                <a:solidFill>
                  <a:srgbClr val="000000"/>
                </a:solidFill>
              </a:rPr>
              <a:t>结构，分为前端</a:t>
            </a:r>
            <a:r>
              <a:rPr lang="en-US" altLang="zh-CN">
                <a:solidFill>
                  <a:srgbClr val="000000"/>
                </a:solidFill>
              </a:rPr>
              <a:t>jsp</a:t>
            </a:r>
            <a:r>
              <a:rPr lang="zh-CN" altLang="en-US">
                <a:solidFill>
                  <a:srgbClr val="000000"/>
                </a:solidFill>
              </a:rPr>
              <a:t>，后端</a:t>
            </a:r>
            <a:r>
              <a:rPr lang="en-US" altLang="zh-CN">
                <a:solidFill>
                  <a:srgbClr val="000000"/>
                </a:solidFill>
              </a:rPr>
              <a:t>Dao</a:t>
            </a:r>
            <a:r>
              <a:rPr lang="zh-CN" altLang="en-US">
                <a:solidFill>
                  <a:srgbClr val="000000"/>
                </a:solidFill>
              </a:rPr>
              <a:t>、</a:t>
            </a:r>
            <a:r>
              <a:rPr lang="en-US" altLang="zh-CN">
                <a:solidFill>
                  <a:srgbClr val="000000"/>
                </a:solidFill>
              </a:rPr>
              <a:t>Entity</a:t>
            </a:r>
            <a:r>
              <a:rPr lang="zh-CN" altLang="en-US">
                <a:solidFill>
                  <a:srgbClr val="000000"/>
                </a:solidFill>
              </a:rPr>
              <a:t>、</a:t>
            </a:r>
            <a:r>
              <a:rPr lang="en-US" altLang="zh-CN">
                <a:solidFill>
                  <a:srgbClr val="000000"/>
                </a:solidFill>
              </a:rPr>
              <a:t>Servlet</a:t>
            </a:r>
            <a:r>
              <a:rPr lang="zh-CN" altLang="en-US">
                <a:solidFill>
                  <a:srgbClr val="000000"/>
                </a:solidFill>
              </a:rPr>
              <a:t>、</a:t>
            </a:r>
            <a:r>
              <a:rPr lang="en-US" altLang="zh-CN">
                <a:solidFill>
                  <a:srgbClr val="000000"/>
                </a:solidFill>
              </a:rPr>
              <a:t>Filter</a:t>
            </a:r>
            <a:r>
              <a:rPr lang="zh-CN" altLang="en-US">
                <a:solidFill>
                  <a:srgbClr val="000000"/>
                </a:solidFill>
              </a:rPr>
              <a:t>、</a:t>
            </a:r>
            <a:r>
              <a:rPr lang="en-US" altLang="zh-CN">
                <a:solidFill>
                  <a:srgbClr val="000000"/>
                </a:solidFill>
              </a:rPr>
              <a:t>JDBCutils</a:t>
            </a:r>
            <a:r>
              <a:rPr lang="zh-CN" altLang="en-US">
                <a:solidFill>
                  <a:srgbClr val="000000"/>
                </a:solidFill>
              </a:rPr>
              <a:t>层，数据存储采用</a:t>
            </a:r>
            <a:r>
              <a:rPr lang="en-US" altLang="zh-CN">
                <a:solidFill>
                  <a:srgbClr val="000000"/>
                </a:solidFill>
              </a:rPr>
              <a:t>Mysql</a:t>
            </a:r>
            <a:r>
              <a:rPr lang="zh-CN" altLang="en-US">
                <a:solidFill>
                  <a:srgbClr val="000000"/>
                </a:solidFill>
              </a:rPr>
              <a:t>数据库，使用</a:t>
            </a:r>
            <a:r>
              <a:rPr lang="en-US" altLang="zh-CN">
                <a:solidFill>
                  <a:srgbClr val="000000"/>
                </a:solidFill>
              </a:rPr>
              <a:t>JDBC</a:t>
            </a:r>
            <a:r>
              <a:rPr lang="zh-CN" altLang="en-US">
                <a:solidFill>
                  <a:srgbClr val="000000"/>
                </a:solidFill>
              </a:rPr>
              <a:t>连接</a:t>
            </a:r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013" y="1612208"/>
            <a:ext cx="5689310" cy="4155670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1536163" y="1752380"/>
            <a:ext cx="42849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本系统全部代码均有</a:t>
            </a:r>
            <a:r>
              <a:rPr lang="en-US" altLang="zh-CN"/>
              <a:t>AI</a:t>
            </a:r>
            <a:r>
              <a:rPr lang="zh-CN" altLang="en-US"/>
              <a:t>生成，提示词为：</a:t>
            </a:r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2098040" y="2289423"/>
            <a:ext cx="1251938" cy="160840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1.</a:t>
            </a:r>
            <a:r>
              <a:rPr lang="zh-CN" altLang="en-US">
                <a:cs typeface="Arial" panose="020B0604020202020204" pitchFamily="34" charset="0"/>
              </a:rPr>
              <a:t>生成一个</a:t>
            </a:r>
            <a:r>
              <a:rPr lang="en-US" altLang="zh-CN">
                <a:cs typeface="Arial" panose="020B0604020202020204" pitchFamily="34" charset="0"/>
              </a:rPr>
              <a:t>javaweb</a:t>
            </a:r>
            <a:r>
              <a:rPr lang="zh-CN" altLang="en-US">
                <a:cs typeface="Arial" panose="020B0604020202020204" pitchFamily="34" charset="0"/>
              </a:rPr>
              <a:t>学生信息管理系统代码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 userDrawn="1"/>
        </p:nvSpPr>
        <p:spPr>
          <a:xfrm>
            <a:off x="341352" y="1578034"/>
            <a:ext cx="2448562" cy="63069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</a:t>
            </a:r>
            <a:r>
              <a:rPr lang="zh-CN" altLang="en-US" sz="2400">
                <a:cs typeface="Arial" panose="020B0604020202020204" pitchFamily="34" charset="0"/>
              </a:rPr>
              <a:t>讲人：杨明阳</a:t>
            </a:r>
            <a:endParaRPr lang="zh-CN" altLang="en-US" sz="240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41340" y="2457452"/>
            <a:ext cx="2448600" cy="63061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</a:t>
            </a:r>
            <a:r>
              <a:rPr lang="zh-CN" altLang="en-US" sz="2400">
                <a:cs typeface="Arial" panose="020B0604020202020204" pitchFamily="34" charset="0"/>
              </a:rPr>
              <a:t>讲人：张润洋</a:t>
            </a:r>
            <a:endParaRPr lang="zh-CN" altLang="en-US" sz="240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341348" y="3333750"/>
            <a:ext cx="2448591" cy="63061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</a:t>
            </a:r>
            <a:r>
              <a:rPr lang="zh-CN" altLang="en-US" sz="2400">
                <a:cs typeface="Arial" panose="020B0604020202020204" pitchFamily="34" charset="0"/>
              </a:rPr>
              <a:t>讲人：徐成祥</a:t>
            </a:r>
            <a:endParaRPr lang="zh-CN" altLang="en-US" sz="240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341352" y="4210053"/>
            <a:ext cx="6965618" cy="63061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</a:t>
            </a:r>
            <a:r>
              <a:rPr lang="zh-CN" altLang="en-US" sz="2400">
                <a:cs typeface="Arial" panose="020B0604020202020204" pitchFamily="34" charset="0"/>
              </a:rPr>
              <a:t>讲人：董喾</a:t>
            </a:r>
            <a:endParaRPr lang="zh-CN" altLang="en-US" sz="240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2548394" y="1578082"/>
            <a:ext cx="3707711" cy="63064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</a:t>
            </a:r>
            <a:r>
              <a:rPr lang="zh-CN" altLang="en-US" sz="2400">
                <a:cs typeface="Arial" panose="020B0604020202020204" pitchFamily="34" charset="0"/>
              </a:rPr>
              <a:t>讲内容：</a:t>
            </a:r>
            <a:r>
              <a:rPr lang="en-US" altLang="zh-CN" sz="2400">
                <a:cs typeface="Arial" panose="020B0604020202020204" pitchFamily="34" charset="0"/>
              </a:rPr>
              <a:t>MVC</a:t>
            </a:r>
            <a:r>
              <a:rPr lang="zh-CN" altLang="en-US" sz="2400">
                <a:cs typeface="Arial" panose="020B0604020202020204" pitchFamily="34" charset="0"/>
              </a:rPr>
              <a:t>模式</a:t>
            </a:r>
            <a:endParaRPr lang="zh-CN" altLang="en-US" sz="240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548391" y="2457490"/>
            <a:ext cx="3519750" cy="63061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</a:t>
            </a:r>
            <a:r>
              <a:rPr lang="zh-CN" altLang="en-US" sz="2400">
                <a:cs typeface="Arial" panose="020B0604020202020204" pitchFamily="34" charset="0"/>
              </a:rPr>
              <a:t>讲内容：</a:t>
            </a:r>
            <a:r>
              <a:rPr lang="en-US" altLang="zh-CN" sz="2400">
                <a:cs typeface="Arial" panose="020B0604020202020204" pitchFamily="34" charset="0"/>
              </a:rPr>
              <a:t>Jsp model1/2</a:t>
            </a:r>
            <a:endParaRPr lang="zh-CN" altLang="en-US" sz="240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548394" y="3333827"/>
            <a:ext cx="4975692" cy="63061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</a:t>
            </a:r>
            <a:r>
              <a:rPr lang="zh-CN" altLang="en-US" sz="2400">
                <a:cs typeface="Arial" panose="020B0604020202020204" pitchFamily="34" charset="0"/>
              </a:rPr>
              <a:t>讲内容：</a:t>
            </a:r>
            <a:r>
              <a:rPr lang="en-US" altLang="zh-CN" sz="2400">
                <a:cs typeface="Arial" panose="020B0604020202020204" pitchFamily="34" charset="0"/>
              </a:rPr>
              <a:t>HttpServletResponse</a:t>
            </a:r>
            <a:endParaRPr lang="zh-CN" altLang="en-US" sz="240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2548394" y="4210010"/>
            <a:ext cx="4758577" cy="63061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</a:t>
            </a:r>
            <a:r>
              <a:rPr lang="zh-CN" altLang="en-US" sz="2400">
                <a:cs typeface="Arial" panose="020B0604020202020204" pitchFamily="34" charset="0"/>
              </a:rPr>
              <a:t>讲内容：</a:t>
            </a:r>
            <a:r>
              <a:rPr lang="en-US" altLang="zh-CN" sz="2400">
                <a:cs typeface="Arial" panose="020B0604020202020204" pitchFamily="34" charset="0"/>
              </a:rPr>
              <a:t>HttpServletRequest</a:t>
            </a:r>
            <a:endParaRPr lang="zh-CN" altLang="en-US" sz="2400"/>
          </a:p>
        </p:txBody>
      </p:sp>
      <p:sp>
        <p:nvSpPr>
          <p:cNvPr id="68" name="文本框 67"/>
          <p:cNvSpPr txBox="1"/>
          <p:nvPr userDrawn="1"/>
        </p:nvSpPr>
        <p:spPr>
          <a:xfrm>
            <a:off x="7101906" y="1578082"/>
            <a:ext cx="3993796" cy="63061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</a:t>
            </a:r>
            <a:r>
              <a:rPr lang="zh-CN" altLang="en-US" sz="2400">
                <a:cs typeface="Arial" panose="020B0604020202020204" pitchFamily="34" charset="0"/>
              </a:rPr>
              <a:t>讲人：邱宇辰</a:t>
            </a:r>
            <a:endParaRPr lang="zh-CN" altLang="en-US" sz="2400"/>
          </a:p>
        </p:txBody>
      </p:sp>
      <p:sp>
        <p:nvSpPr>
          <p:cNvPr id="69" name="文本框 68"/>
          <p:cNvSpPr txBox="1"/>
          <p:nvPr userDrawn="1"/>
        </p:nvSpPr>
        <p:spPr>
          <a:xfrm>
            <a:off x="7101906" y="2457490"/>
            <a:ext cx="2365287" cy="6306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主讲人：陈少奇</a:t>
            </a:r>
            <a:endParaRPr lang="zh-CN" altLang="en-US" sz="2400"/>
          </a:p>
        </p:txBody>
      </p:sp>
      <p:sp>
        <p:nvSpPr>
          <p:cNvPr id="70" name="文本框 69"/>
          <p:cNvSpPr txBox="1"/>
          <p:nvPr userDrawn="1"/>
        </p:nvSpPr>
        <p:spPr>
          <a:xfrm>
            <a:off x="7101906" y="3333827"/>
            <a:ext cx="3123822" cy="63061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</a:t>
            </a:r>
            <a:r>
              <a:rPr lang="zh-CN" altLang="en-US" sz="2400">
                <a:cs typeface="Arial" panose="020B0604020202020204" pitchFamily="34" charset="0"/>
              </a:rPr>
              <a:t>讲人：高擎翔</a:t>
            </a:r>
            <a:endParaRPr lang="zh-CN" altLang="en-US" sz="2400"/>
          </a:p>
        </p:txBody>
      </p:sp>
      <p:sp>
        <p:nvSpPr>
          <p:cNvPr id="71" name="文本框 70"/>
          <p:cNvSpPr txBox="1"/>
          <p:nvPr userDrawn="1"/>
        </p:nvSpPr>
        <p:spPr>
          <a:xfrm>
            <a:off x="7101906" y="4210010"/>
            <a:ext cx="2664047" cy="63061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</a:t>
            </a:r>
            <a:r>
              <a:rPr lang="zh-CN" altLang="en-US" sz="2400">
                <a:cs typeface="Arial" panose="020B0604020202020204" pitchFamily="34" charset="0"/>
              </a:rPr>
              <a:t>讲人：周皓</a:t>
            </a:r>
            <a:endParaRPr lang="zh-CN" altLang="en-US" sz="2400"/>
          </a:p>
        </p:txBody>
      </p:sp>
      <p:sp>
        <p:nvSpPr>
          <p:cNvPr id="72" name="文本框 71"/>
          <p:cNvSpPr txBox="1"/>
          <p:nvPr userDrawn="1"/>
        </p:nvSpPr>
        <p:spPr>
          <a:xfrm>
            <a:off x="9262882" y="1578082"/>
            <a:ext cx="3057034" cy="6304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</a:t>
            </a:r>
            <a:r>
              <a:rPr lang="zh-CN" altLang="en-US" sz="2400">
                <a:cs typeface="Arial" panose="020B0604020202020204" pitchFamily="34" charset="0"/>
              </a:rPr>
              <a:t>讲内容：中文乱码</a:t>
            </a:r>
            <a:endParaRPr lang="zh-CN" altLang="en-US" sz="2400"/>
          </a:p>
        </p:txBody>
      </p:sp>
      <p:sp>
        <p:nvSpPr>
          <p:cNvPr id="73" name="文本框 72"/>
          <p:cNvSpPr txBox="1"/>
          <p:nvPr userDrawn="1"/>
        </p:nvSpPr>
        <p:spPr>
          <a:xfrm>
            <a:off x="9262882" y="2457490"/>
            <a:ext cx="3136593" cy="63061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</a:t>
            </a:r>
            <a:r>
              <a:rPr lang="zh-CN" altLang="en-US" sz="2400">
                <a:cs typeface="Arial" panose="020B0604020202020204" pitchFamily="34" charset="0"/>
              </a:rPr>
              <a:t>讲内容：</a:t>
            </a:r>
            <a:r>
              <a:rPr lang="en-US" altLang="zh-CN" sz="2400">
                <a:cs typeface="Arial" panose="020B0604020202020204" pitchFamily="34" charset="0"/>
              </a:rPr>
              <a:t>JavaBean</a:t>
            </a:r>
            <a:endParaRPr lang="zh-CN" altLang="en-US" sz="2400"/>
          </a:p>
        </p:txBody>
      </p:sp>
      <p:sp>
        <p:nvSpPr>
          <p:cNvPr id="74" name="文本框 73"/>
          <p:cNvSpPr txBox="1"/>
          <p:nvPr userDrawn="1"/>
        </p:nvSpPr>
        <p:spPr>
          <a:xfrm>
            <a:off x="9262882" y="3333827"/>
            <a:ext cx="3312468" cy="87617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</a:t>
            </a:r>
            <a:r>
              <a:rPr lang="zh-CN" altLang="en-US" sz="2400">
                <a:cs typeface="Arial" panose="020B0604020202020204" pitchFamily="34" charset="0"/>
              </a:rPr>
              <a:t>讲内容：</a:t>
            </a:r>
            <a:r>
              <a:rPr lang="en-US" altLang="zh-CN" sz="2400">
                <a:cs typeface="Arial" panose="020B0604020202020204" pitchFamily="34" charset="0"/>
              </a:rPr>
              <a:t>servlet life</a:t>
            </a:r>
            <a:endParaRPr lang="en-US" altLang="zh-CN" sz="2400">
              <a:cs typeface="Arial" panose="020B0604020202020204" pitchFamily="34" charset="0"/>
            </a:endParaRPr>
          </a:p>
          <a:p>
            <a:r>
              <a:rPr lang="en-US" altLang="zh-CN" sz="2400">
                <a:cs typeface="Arial" panose="020B0604020202020204" pitchFamily="34" charset="0"/>
              </a:rPr>
              <a:t>cycle </a:t>
            </a:r>
            <a:endParaRPr lang="zh-CN" altLang="en-US" sz="2400"/>
          </a:p>
        </p:txBody>
      </p:sp>
      <p:sp>
        <p:nvSpPr>
          <p:cNvPr id="75" name="文本框 74"/>
          <p:cNvSpPr txBox="1"/>
          <p:nvPr userDrawn="1"/>
        </p:nvSpPr>
        <p:spPr>
          <a:xfrm>
            <a:off x="9262882" y="4210127"/>
            <a:ext cx="3762398" cy="77857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主</a:t>
            </a:r>
            <a:r>
              <a:rPr lang="zh-CN" altLang="en-US" sz="2400">
                <a:cs typeface="Arial" panose="020B0604020202020204" pitchFamily="34" charset="0"/>
              </a:rPr>
              <a:t>讲内容：对以上	       内容的完整例子介绍</a:t>
            </a:r>
            <a:endParaRPr lang="zh-CN" altLang="en-US" sz="24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317"/>
            <a:ext cx="12216738" cy="6858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821" y="0"/>
            <a:ext cx="12240873" cy="6857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31456" y="115915"/>
            <a:ext cx="4424784" cy="1510872"/>
          </a:xfrm>
        </p:spPr>
        <p:txBody>
          <a:bodyPr/>
          <a:p>
            <a:r>
              <a:rPr lang="en-US" altLang="zh-CN"/>
              <a:t>MVC</a:t>
            </a:r>
            <a:r>
              <a:rPr lang="zh-CN" altLang="en-US"/>
              <a:t>模式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308183" y="1978786"/>
            <a:ext cx="4271280" cy="4727760"/>
          </a:xfrm>
        </p:spPr>
        <p:txBody>
          <a:bodyPr>
            <a:normAutofit lnSpcReduction="20000"/>
          </a:bodyPr>
          <a:p>
            <a:r>
              <a:rPr lang="en-US" altLang="zh-CN"/>
              <a:t>MVC</a:t>
            </a:r>
            <a:r>
              <a:rPr lang="zh-CN" altLang="en-US"/>
              <a:t>全名为</a:t>
            </a:r>
            <a:r>
              <a:rPr lang="en-US" altLang="zh-CN">
                <a:highlight>
                  <a:srgbClr val="FFFF00"/>
                </a:highlight>
              </a:rPr>
              <a:t>Model</a:t>
            </a:r>
            <a:r>
              <a:rPr lang="zh-CN" altLang="en-US">
                <a:highlight>
                  <a:srgbClr val="FFFF00"/>
                </a:highlight>
              </a:rPr>
              <a:t>-</a:t>
            </a:r>
            <a:r>
              <a:rPr lang="en-US" altLang="zh-CN">
                <a:highlight>
                  <a:srgbClr val="FFFF00"/>
                </a:highlight>
              </a:rPr>
              <a:t>View</a:t>
            </a:r>
            <a:r>
              <a:rPr lang="zh-CN" altLang="en-US">
                <a:highlight>
                  <a:srgbClr val="FFFF00"/>
                </a:highlight>
              </a:rPr>
              <a:t>-</a:t>
            </a:r>
            <a:r>
              <a:rPr lang="en-US" altLang="zh-CN">
                <a:highlight>
                  <a:srgbClr val="FFFF00"/>
                </a:highlight>
              </a:rPr>
              <a:t>Controller</a:t>
            </a:r>
            <a:endParaRPr lang="en-US" altLang="zh-CN">
              <a:highlight>
                <a:srgbClr val="FFFF00"/>
              </a:highlight>
            </a:endParaRPr>
          </a:p>
          <a:p>
            <a:r>
              <a:rPr lang="en-US" altLang="zh-CN"/>
              <a:t>Model</a:t>
            </a:r>
            <a:r>
              <a:rPr lang="zh-CN" altLang="en-US"/>
              <a:t>对应的是模型，在本项目中为</a:t>
            </a:r>
            <a:r>
              <a:rPr lang="en-US" altLang="zh-CN"/>
              <a:t>entity</a:t>
            </a:r>
            <a:r>
              <a:rPr lang="zh-CN" altLang="en-US"/>
              <a:t>、</a:t>
            </a:r>
            <a:r>
              <a:rPr lang="en-US" altLang="zh-CN"/>
              <a:t>dao</a:t>
            </a:r>
            <a:r>
              <a:rPr lang="zh-CN" altLang="en-US"/>
              <a:t>和</a:t>
            </a:r>
            <a:r>
              <a:rPr lang="en-US" altLang="zh-CN"/>
              <a:t>util</a:t>
            </a:r>
            <a:endParaRPr lang="en-US" altLang="zh-CN"/>
          </a:p>
          <a:p>
            <a:r>
              <a:rPr lang="en-US" altLang="zh-CN"/>
              <a:t>View</a:t>
            </a:r>
            <a:r>
              <a:rPr lang="zh-CN" altLang="en-US"/>
              <a:t>对应的是视图，在本项目中为</a:t>
            </a:r>
            <a:r>
              <a:rPr lang="en-US" altLang="zh-CN"/>
              <a:t>jsp</a:t>
            </a:r>
            <a:endParaRPr lang="en-US" altLang="zh-CN"/>
          </a:p>
          <a:p>
            <a:r>
              <a:rPr lang="en-US" altLang="zh-CN"/>
              <a:t>Controller</a:t>
            </a:r>
            <a:r>
              <a:rPr lang="zh-CN" altLang="en-US"/>
              <a:t>对应的是控制器，在本项目中对应的是</a:t>
            </a:r>
            <a:r>
              <a:rPr lang="en-US" altLang="zh-CN"/>
              <a:t>servlet</a:t>
            </a:r>
            <a:r>
              <a:rPr lang="zh-CN" altLang="en-US"/>
              <a:t>和</a:t>
            </a:r>
            <a:r>
              <a:rPr lang="en-US" altLang="zh-CN"/>
              <a:t>filter</a:t>
            </a:r>
            <a:endParaRPr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6295390" y="795020"/>
            <a:ext cx="5005705" cy="4223794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400">
                <a:highlight>
                  <a:srgbClr val="FFFF00"/>
                </a:highlight>
              </a:rPr>
              <a:t>pro</a:t>
            </a:r>
            <a:r>
              <a:rPr lang="en-US" altLang="zh-CN" sz="2400">
                <a:highlight>
                  <a:srgbClr val="FFFF00"/>
                </a:highlight>
                <a:cs typeface="Arial" panose="020B0604020202020204" pitchFamily="34" charset="0"/>
              </a:rPr>
              <a:t>mpt: </a:t>
            </a:r>
            <a:endParaRPr lang="en-US" altLang="zh-CN" sz="2400">
              <a:highlight>
                <a:srgbClr val="FFFF00"/>
              </a:highlight>
              <a:cs typeface="Arial" panose="020B0604020202020204" pitchFamily="34" charset="0"/>
            </a:endParaRPr>
          </a:p>
          <a:p>
            <a:r>
              <a:rPr lang="en-US" altLang="zh-CN">
                <a:cs typeface="Arial" panose="020B0604020202020204" pitchFamily="34" charset="0"/>
              </a:rPr>
              <a:t>1.MVC</a:t>
            </a:r>
            <a:r>
              <a:rPr lang="zh-CN" altLang="en-US">
                <a:cs typeface="Arial" panose="020B0604020202020204" pitchFamily="34" charset="0"/>
              </a:rPr>
              <a:t>全名</a:t>
            </a:r>
            <a:endParaRPr lang="zh-CN" altLang="en-US">
              <a:cs typeface="Arial" panose="020B0604020202020204" pitchFamily="34" charset="0"/>
            </a:endParaRPr>
          </a:p>
          <a:p>
            <a:r>
              <a:rPr lang="en-US" altLang="zh-CN">
                <a:cs typeface="Arial" panose="020B0604020202020204" pitchFamily="34" charset="0"/>
              </a:rPr>
              <a:t>2.</a:t>
            </a:r>
            <a:r>
              <a:rPr lang="zh-CN" altLang="en-US">
                <a:cs typeface="Arial" panose="020B0604020202020204" pitchFamily="34" charset="0"/>
              </a:rPr>
              <a:t>对应的哪三层  </a:t>
            </a:r>
            <a:endParaRPr lang="zh-CN" altLang="en-US">
              <a:cs typeface="Arial" panose="020B0604020202020204" pitchFamily="34" charset="0"/>
            </a:endParaRPr>
          </a:p>
          <a:p>
            <a:r>
              <a:rPr lang="en-US" altLang="zh-CN">
                <a:cs typeface="Arial" panose="020B0604020202020204" pitchFamily="34" charset="0"/>
              </a:rPr>
              <a:t>3.</a:t>
            </a:r>
            <a:r>
              <a:rPr lang="zh-CN" altLang="en-US">
                <a:cs typeface="Arial" panose="020B0604020202020204" pitchFamily="34" charset="0"/>
              </a:rPr>
              <a:t> </a:t>
            </a:r>
            <a:r>
              <a:rPr lang="en-US" altLang="zh-CN">
                <a:cs typeface="Arial" panose="020B0604020202020204" pitchFamily="34" charset="0"/>
              </a:rPr>
              <a:t>MVC</a:t>
            </a:r>
            <a:r>
              <a:rPr lang="zh-CN" altLang="en-US">
                <a:cs typeface="Arial" panose="020B0604020202020204" pitchFamily="34" charset="0"/>
              </a:rPr>
              <a:t>和</a:t>
            </a:r>
            <a:r>
              <a:rPr lang="en-US" altLang="zh-CN">
                <a:cs typeface="Arial" panose="020B0604020202020204" pitchFamily="34" charset="0"/>
              </a:rPr>
              <a:t>Maven</a:t>
            </a:r>
            <a:r>
              <a:rPr lang="zh-CN" altLang="en-US">
                <a:cs typeface="Arial" panose="020B0604020202020204" pitchFamily="34" charset="0"/>
              </a:rPr>
              <a:t>的区别      </a:t>
            </a:r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519671" y="5693468"/>
            <a:ext cx="9077855" cy="399011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注：</a:t>
            </a:r>
            <a:r>
              <a:rPr lang="en-US" altLang="zh-CN"/>
              <a:t>MVC </a:t>
            </a:r>
            <a:r>
              <a:rPr lang="zh-CN" altLang="en-US"/>
              <a:t>是代码的「架构设计模式」，</a:t>
            </a:r>
            <a:r>
              <a:rPr lang="en-US" altLang="zh-CN"/>
              <a:t>Maven </a:t>
            </a:r>
            <a:r>
              <a:rPr lang="zh-CN" altLang="en-US"/>
              <a:t>是项目的「构建管理工具」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065165" y="0"/>
            <a:ext cx="5801714" cy="756844"/>
          </a:xfrm>
        </p:spPr>
        <p:txBody>
          <a:bodyPr>
            <a:noAutofit/>
          </a:bodyPr>
          <a:p>
            <a:r>
              <a:rPr lang="en-US" altLang="zh-CN" sz="4000"/>
              <a:t>HttpServletResponse</a:t>
            </a:r>
            <a:endParaRPr lang="zh-CN" altLang="en-US" sz="40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0" y="1542500"/>
            <a:ext cx="4601191" cy="1932175"/>
          </a:xfrm>
        </p:spPr>
        <p:txBody>
          <a:bodyPr>
            <a:normAutofit fontScale="80000"/>
          </a:bodyPr>
          <a:p>
            <a:r>
              <a:rPr lang="en-US" altLang="zh-CN"/>
              <a:t>HttpServletResponse </a:t>
            </a:r>
            <a:r>
              <a:rPr lang="zh-CN" altLang="en-US"/>
              <a:t>是 </a:t>
            </a:r>
            <a:r>
              <a:rPr lang="en-US" altLang="zh-CN"/>
              <a:t>Java Web（</a:t>
            </a:r>
            <a:r>
              <a:rPr lang="en-US" altLang="zh-CN">
                <a:highlight>
                  <a:srgbClr val="FFFF00"/>
                </a:highlight>
              </a:rPr>
              <a:t>Servlet</a:t>
            </a:r>
            <a:r>
              <a:rPr lang="en-US" altLang="zh-CN"/>
              <a:t>） </a:t>
            </a:r>
            <a:r>
              <a:rPr lang="zh-CN" altLang="en-US"/>
              <a:t>中的核心接口，专门用来封装服务器对客户端浏览器的响应数据，对应一次 </a:t>
            </a:r>
            <a:r>
              <a:rPr lang="en-US" altLang="zh-CN"/>
              <a:t>HTTP </a:t>
            </a:r>
            <a:r>
              <a:rPr lang="zh-CN" altLang="en-US"/>
              <a:t>响应。</a:t>
            </a:r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0" y="897331"/>
            <a:ext cx="5099200" cy="38973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一</a:t>
            </a:r>
            <a:r>
              <a:rPr lang="en-US" altLang="zh-CN" sz="2400">
                <a:cs typeface="Arial" panose="020B0604020202020204" pitchFamily="34" charset="0"/>
              </a:rPr>
              <a:t>.</a:t>
            </a:r>
            <a:r>
              <a:rPr lang="zh-CN" altLang="en-US" sz="2400">
                <a:cs typeface="Arial" panose="020B0604020202020204" pitchFamily="34" charset="0"/>
              </a:rPr>
              <a:t>什么是</a:t>
            </a:r>
            <a:r>
              <a:rPr lang="en-US" altLang="zh-CN" sz="2400">
                <a:cs typeface="Arial" panose="020B0604020202020204" pitchFamily="34" charset="0"/>
              </a:rPr>
              <a:t>HttpServletResponse</a:t>
            </a:r>
            <a:endParaRPr lang="zh-CN" altLang="en-US" sz="240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571741" y="897327"/>
            <a:ext cx="4486167" cy="36830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二</a:t>
            </a:r>
            <a:r>
              <a:rPr lang="en-US" altLang="zh-CN" sz="2400">
                <a:cs typeface="Arial" panose="020B0604020202020204" pitchFamily="34" charset="0"/>
              </a:rPr>
              <a:t>.</a:t>
            </a:r>
            <a:r>
              <a:rPr lang="zh-CN" altLang="en-US" sz="2400">
                <a:cs typeface="Arial" panose="020B0604020202020204" pitchFamily="34" charset="0"/>
              </a:rPr>
              <a:t>在本项目哪里地方被使用</a:t>
            </a:r>
            <a:endParaRPr lang="zh-CN" altLang="en-US" sz="2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985" y="2644541"/>
            <a:ext cx="6417275" cy="417745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5878195" y="1902460"/>
            <a:ext cx="4324725" cy="74213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addservlet</a:t>
            </a:r>
            <a:r>
              <a:rPr lang="zh-CN" altLang="en-US"/>
              <a:t>、</a:t>
            </a:r>
            <a:r>
              <a:rPr lang="en-US" altLang="zh-CN"/>
              <a:t>editservlet</a:t>
            </a:r>
            <a:r>
              <a:rPr lang="zh-CN" altLang="en-US"/>
              <a:t>、</a:t>
            </a:r>
            <a:r>
              <a:rPr lang="en-US" altLang="zh-CN"/>
              <a:t>deleteservlet</a:t>
            </a:r>
            <a:r>
              <a:rPr lang="zh-CN" altLang="en-US"/>
              <a:t>（分别对应</a:t>
            </a:r>
            <a:r>
              <a:rPr lang="zh-CN" altLang="en-US">
                <a:solidFill>
                  <a:schemeClr val="accent1"/>
                </a:solidFill>
              </a:rPr>
              <a:t>增加、修改、删除</a:t>
            </a:r>
            <a:r>
              <a:rPr lang="zh-CN" altLang="en-US"/>
              <a:t>功能）</a:t>
            </a:r>
            <a:endParaRPr lang="zh-CN" altLang="en-US"/>
          </a:p>
        </p:txBody>
      </p:sp>
      <p:cxnSp>
        <p:nvCxnSpPr>
          <p:cNvPr id="12" name="直接箭头连接符 11"/>
          <p:cNvCxnSpPr/>
          <p:nvPr userDrawn="1"/>
        </p:nvCxnSpPr>
        <p:spPr>
          <a:xfrm>
            <a:off x="7395868" y="3062227"/>
            <a:ext cx="0" cy="72995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9" y="4213643"/>
            <a:ext cx="8534400" cy="114300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5783776" y="3792120"/>
            <a:ext cx="45135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/>
              <a:t>listservlet</a:t>
            </a:r>
            <a:r>
              <a:rPr lang="zh-CN" altLang="en-US"/>
              <a:t>（用于将后端的数据传给</a:t>
            </a:r>
            <a:r>
              <a:rPr lang="en-US" altLang="zh-CN"/>
              <a:t>list.jso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5571704" y="5778103"/>
            <a:ext cx="4486167" cy="36830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运用重定向功能，跳转到</a:t>
            </a:r>
            <a:r>
              <a:rPr lang="en-US" altLang="zh-CN">
                <a:solidFill>
                  <a:srgbClr val="FF0000"/>
                </a:solidFill>
              </a:rPr>
              <a:t>listservlet</a:t>
            </a:r>
            <a:r>
              <a:rPr lang="zh-CN" altLang="en-US">
                <a:solidFill>
                  <a:srgbClr val="FF0000"/>
                </a:solidFill>
              </a:rPr>
              <a:t>，打包数据都</a:t>
            </a:r>
            <a:r>
              <a:rPr lang="en-US" altLang="zh-CN">
                <a:solidFill>
                  <a:srgbClr val="FF0000"/>
                </a:solidFill>
              </a:rPr>
              <a:t>list</a:t>
            </a:r>
            <a:r>
              <a:rPr lang="zh-CN" altLang="en-US">
                <a:solidFill>
                  <a:srgbClr val="FF0000"/>
                </a:solidFill>
              </a:rPr>
              <a:t>集合，发送给前端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221007" y="3474620"/>
            <a:ext cx="2844158" cy="196075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其他</a:t>
            </a:r>
            <a:r>
              <a:rPr lang="zh-CN" altLang="en-US">
                <a:cs typeface="Arial" panose="020B0604020202020204" pitchFamily="34" charset="0"/>
              </a:rPr>
              <a:t>功能：</a:t>
            </a:r>
            <a:endParaRPr lang="zh-CN" altLang="en-US">
              <a:cs typeface="Arial" panose="020B0604020202020204" pitchFamily="34" charset="0"/>
            </a:endParaRPr>
          </a:p>
          <a:p>
            <a:r>
              <a:rPr lang="en-US" altLang="zh-CN">
                <a:cs typeface="Arial" panose="020B0604020202020204" pitchFamily="34" charset="0"/>
              </a:rPr>
              <a:t>1.</a:t>
            </a:r>
            <a:r>
              <a:rPr lang="zh-CN" altLang="en-US">
                <a:cs typeface="Arial" panose="020B0604020202020204" pitchFamily="34" charset="0"/>
              </a:rPr>
              <a:t>向浏览器输出（字节</a:t>
            </a:r>
            <a:r>
              <a:rPr lang="en-US" altLang="zh-CN">
                <a:cs typeface="Arial" panose="020B0604020202020204" pitchFamily="34" charset="0"/>
              </a:rPr>
              <a:t>/</a:t>
            </a:r>
            <a:r>
              <a:rPr lang="zh-CN" altLang="en-US">
                <a:cs typeface="Arial" panose="020B0604020202020204" pitchFamily="34" charset="0"/>
              </a:rPr>
              <a:t>字符输出流）</a:t>
            </a:r>
            <a:endParaRPr lang="zh-CN" altLang="en-US">
              <a:cs typeface="Arial" panose="020B0604020202020204" pitchFamily="34" charset="0"/>
            </a:endParaRPr>
          </a:p>
          <a:p>
            <a:r>
              <a:rPr lang="en-US" altLang="zh-CN"/>
              <a:t>2.</a:t>
            </a:r>
            <a:r>
              <a:rPr lang="zh-CN" altLang="en-US"/>
              <a:t>设置响应码（解决中文乱码）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设置响应头</a:t>
            </a:r>
            <a:endParaRPr lang="zh-CN" altLang="en-US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501650" y="5529482"/>
            <a:ext cx="4345680" cy="94301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400">
                <a:highlight>
                  <a:srgbClr val="FFFF00"/>
                </a:highlight>
              </a:rPr>
              <a:t>pro</a:t>
            </a:r>
            <a:r>
              <a:rPr lang="en-US" altLang="zh-CN" sz="2400">
                <a:highlight>
                  <a:srgbClr val="FFFF00"/>
                </a:highlight>
                <a:cs typeface="Arial" panose="020B0604020202020204" pitchFamily="34" charset="0"/>
              </a:rPr>
              <a:t>mpt</a:t>
            </a:r>
            <a:r>
              <a:rPr lang="zh-CN" altLang="en-US">
                <a:cs typeface="Arial" panose="020B0604020202020204" pitchFamily="34" charset="0"/>
              </a:rPr>
              <a:t>：</a:t>
            </a:r>
            <a:r>
              <a:rPr lang="en-US" altLang="zh-CN">
                <a:cs typeface="Arial" panose="020B0604020202020204" pitchFamily="34" charset="0"/>
              </a:rPr>
              <a:t>1.</a:t>
            </a:r>
            <a:r>
              <a:rPr lang="zh-CN" altLang="en-US">
                <a:cs typeface="Arial" panose="020B0604020202020204" pitchFamily="34" charset="0"/>
              </a:rPr>
              <a:t>什么是</a:t>
            </a:r>
            <a:r>
              <a:rPr lang="en-US" altLang="zh-CN">
                <a:cs typeface="Arial" panose="020B0604020202020204" pitchFamily="34" charset="0"/>
              </a:rPr>
              <a:t>httpservletresponse</a:t>
            </a:r>
            <a:endParaRPr lang="en-US" altLang="zh-CN">
              <a:cs typeface="Arial" panose="020B0604020202020204" pitchFamily="34" charset="0"/>
            </a:endParaRPr>
          </a:p>
          <a:p>
            <a:r>
              <a:rPr lang="en-US" altLang="zh-CN">
                <a:cs typeface="Arial" panose="020B0604020202020204" pitchFamily="34" charset="0"/>
              </a:rPr>
              <a:t>2.</a:t>
            </a:r>
            <a:r>
              <a:rPr lang="zh-CN" altLang="en-US">
                <a:cs typeface="Arial" panose="020B0604020202020204" pitchFamily="34" charset="0"/>
              </a:rPr>
              <a:t>有哪些功能</a:t>
            </a:r>
            <a:endParaRPr lang="zh-CN" altLang="en-US">
              <a:cs typeface="Arial" panose="020B0604020202020204" pitchFamily="34" charset="0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 userDrawn="1"/>
        </p:nvSpPr>
        <p:spPr>
          <a:xfrm>
            <a:off x="3430623" y="451485"/>
            <a:ext cx="6293061" cy="156845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4800"/>
              <a:t>HttpServletRequest</a:t>
            </a:r>
            <a:endParaRPr lang="zh-CN" altLang="en-US" sz="480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302260" y="1442085"/>
            <a:ext cx="11457305" cy="92202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b="1"/>
              <a:t>主要作用</a:t>
            </a:r>
            <a:r>
              <a:rPr lang="zh-CN" altLang="en-US"/>
              <a:t>：它是 </a:t>
            </a:r>
            <a:r>
              <a:rPr lang="en-US" altLang="zh-CN">
                <a:solidFill>
                  <a:schemeClr val="accent1"/>
                </a:solidFill>
              </a:rPr>
              <a:t>Java Servlet</a:t>
            </a:r>
            <a:r>
              <a:rPr lang="en-US" altLang="zh-CN"/>
              <a:t> </a:t>
            </a:r>
            <a:r>
              <a:rPr lang="zh-CN" altLang="en-US"/>
              <a:t>的核心接口，专门封装浏览器发往服务器的 </a:t>
            </a:r>
            <a:r>
              <a:rPr lang="en-US" altLang="zh-CN"/>
              <a:t>HTTP </a:t>
            </a:r>
            <a:r>
              <a:rPr lang="zh-CN" altLang="en-US"/>
              <a:t>请求全量数据。作为前后端数据交互的关键桥梁，</a:t>
            </a:r>
            <a:r>
              <a:rPr lang="en-US" altLang="zh-CN"/>
              <a:t>Servlet </a:t>
            </a:r>
            <a:r>
              <a:rPr lang="zh-CN" altLang="en-US"/>
              <a:t>通过它可以精准获取客户端的请求参数、头信息、</a:t>
            </a:r>
            <a:r>
              <a:rPr lang="en-US" altLang="zh-CN"/>
              <a:t>Cookie </a:t>
            </a:r>
            <a:r>
              <a:rPr lang="zh-CN" altLang="en-US"/>
              <a:t>等核心内容，是后端业务处理的“</a:t>
            </a:r>
            <a:r>
              <a:rPr lang="zh-CN" altLang="en-US">
                <a:solidFill>
                  <a:schemeClr val="accent1"/>
                </a:solidFill>
              </a:rPr>
              <a:t>第一手信息源</a:t>
            </a:r>
            <a:r>
              <a:rPr lang="zh-CN" altLang="en-US"/>
              <a:t>”。</a:t>
            </a:r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50580" y="2755900"/>
            <a:ext cx="4636135" cy="92202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b="1"/>
              <a:t>核心方法</a:t>
            </a:r>
            <a:r>
              <a:rPr lang="zh-CN" altLang="en-US"/>
              <a:t>：</a:t>
            </a:r>
            <a:r>
              <a:rPr lang="en-US" altLang="zh-CN">
                <a:solidFill>
                  <a:srgbClr val="FF0000"/>
                </a:solidFill>
              </a:rPr>
              <a:t>getParameter():</a:t>
            </a:r>
            <a:r>
              <a:rPr lang="zh-CN" altLang="en-US"/>
              <a:t>通过参数名获取前端表单提交的数据，是处理表单最常用的 </a:t>
            </a:r>
            <a:r>
              <a:rPr lang="en-US" altLang="zh-CN"/>
              <a:t>API</a:t>
            </a:r>
            <a:r>
              <a:rPr lang="zh-CN" altLang="en-US"/>
              <a:t>。例如获取姓名、年龄、专业等字段。</a:t>
            </a:r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5744210" y="2552700"/>
            <a:ext cx="6098540" cy="203009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代码实现示例</a:t>
            </a:r>
            <a:r>
              <a:rPr lang="en-US" altLang="zh-CN"/>
              <a:t>:</a:t>
            </a:r>
            <a:endParaRPr lang="en-US" altLang="zh-CN"/>
          </a:p>
          <a:p>
            <a:r>
              <a:rPr lang="en-US" altLang="zh-CN"/>
              <a:t>// </a:t>
            </a:r>
            <a:r>
              <a:rPr lang="zh-CN" altLang="en-US"/>
              <a:t>获取前端表单参数</a:t>
            </a:r>
            <a:br>
              <a:rPr lang="zh-CN" altLang="en-US"/>
            </a:br>
            <a:r>
              <a:rPr lang="en-US" altLang="zh-CN"/>
              <a:t>String name </a:t>
            </a:r>
            <a:r>
              <a:rPr lang="zh-CN" altLang="en-US"/>
              <a:t>= </a:t>
            </a:r>
            <a:r>
              <a:rPr lang="en-US" altLang="zh-CN"/>
              <a:t>request.getParameter("name");</a:t>
            </a:r>
            <a:br>
              <a:rPr lang="en-US" altLang="zh-CN"/>
            </a:br>
            <a:r>
              <a:rPr lang="en-US" altLang="zh-CN"/>
              <a:t>int age </a:t>
            </a:r>
            <a:r>
              <a:rPr lang="zh-CN" altLang="en-US"/>
              <a:t>= </a:t>
            </a:r>
            <a:r>
              <a:rPr lang="en-US" altLang="zh-CN"/>
              <a:t>Integer.parseInt(</a:t>
            </a:r>
            <a:br>
              <a:rPr lang="en-US" altLang="zh-CN"/>
            </a:br>
            <a:r>
              <a:rPr lang="en-US" altLang="zh-CN"/>
              <a:t>request.getParameter("age")</a:t>
            </a:r>
            <a:br>
              <a:rPr lang="en-US" altLang="zh-CN"/>
            </a:br>
            <a:r>
              <a:rPr lang="en-US" altLang="zh-CN"/>
              <a:t>);</a:t>
            </a:r>
            <a:br>
              <a:rPr lang="en-US" altLang="zh-CN"/>
            </a:br>
            <a:r>
              <a:rPr lang="en-US" altLang="zh-CN"/>
              <a:t>String major </a:t>
            </a:r>
            <a:r>
              <a:rPr lang="zh-CN" altLang="en-US"/>
              <a:t>= </a:t>
            </a:r>
            <a:r>
              <a:rPr lang="en-US" altLang="zh-CN"/>
              <a:t>request.getParameter("major");</a:t>
            </a:r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459740" y="3922395"/>
            <a:ext cx="4590415" cy="203009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b="1"/>
              <a:t>开发原则</a:t>
            </a:r>
            <a:r>
              <a:rPr lang="zh-CN" altLang="en-US"/>
              <a:t>：严谨性与灵活性并重</a:t>
            </a:r>
            <a:endParaRPr lang="zh-CN" altLang="en-US"/>
          </a:p>
          <a:p>
            <a:r>
              <a:rPr lang="zh-CN" altLang="en-US"/>
              <a:t>在 </a:t>
            </a:r>
            <a:r>
              <a:rPr lang="en-US" altLang="zh-CN"/>
              <a:t>Servlet </a:t>
            </a:r>
            <a:r>
              <a:rPr lang="zh-CN" altLang="en-US"/>
              <a:t>开发中，处理请求时需优先保证编码统一，避免数据失真；其次对外部输入做“防御性编程”校验，拦截非法数据；最后通过动态路径适配提升系统的可维护性，这是构建高可用、易维护 </a:t>
            </a:r>
            <a:r>
              <a:rPr lang="en-US" altLang="zh-CN"/>
              <a:t>Web </a:t>
            </a:r>
            <a:r>
              <a:rPr lang="zh-CN" altLang="en-US"/>
              <a:t>应用的基础工程实践。</a:t>
            </a:r>
            <a:endParaRPr lang="zh-CN" altLang="en-US"/>
          </a:p>
        </p:txBody>
      </p:sp>
      <p:sp>
        <p:nvSpPr>
          <p:cNvPr id="21" name="文本框 20"/>
          <p:cNvSpPr txBox="1"/>
          <p:nvPr userDrawn="1"/>
        </p:nvSpPr>
        <p:spPr>
          <a:xfrm>
            <a:off x="5910580" y="4634865"/>
            <a:ext cx="5182870" cy="92202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AI</a:t>
            </a:r>
            <a:r>
              <a:rPr lang="zh-CN" altLang="en-US">
                <a:highlight>
                  <a:srgbClr val="FFFF00"/>
                </a:highlight>
              </a:rPr>
              <a:t>提示词</a:t>
            </a:r>
            <a:r>
              <a:rPr lang="zh-CN" altLang="en-US"/>
              <a:t>：</a:t>
            </a:r>
            <a:r>
              <a:rPr lang="en-US" altLang="zh-CN"/>
              <a:t>1.HttpServletRequest</a:t>
            </a:r>
            <a:r>
              <a:rPr lang="zh-CN" altLang="en-US"/>
              <a:t>作用</a:t>
            </a:r>
            <a:endParaRPr lang="en-US" altLang="zh-CN"/>
          </a:p>
          <a:p>
            <a:r>
              <a:rPr lang="en-US" altLang="zh-CN"/>
              <a:t>                  2.getParameter()</a:t>
            </a:r>
            <a:r>
              <a:rPr lang="zh-CN" altLang="en-US"/>
              <a:t>方法</a:t>
            </a:r>
            <a:endParaRPr lang="en-US" altLang="zh-CN"/>
          </a:p>
          <a:p>
            <a:pPr lvl="1" indent="457200"/>
            <a:r>
              <a:rPr lang="zh-CN" altLang="en-US"/>
              <a:t>    </a:t>
            </a:r>
            <a:r>
              <a:rPr lang="en-US" altLang="zh-CN"/>
              <a:t>3.</a:t>
            </a:r>
            <a:r>
              <a:rPr lang="zh-CN" altLang="en-US"/>
              <a:t>常见问题与优化实践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4245583" y="118334"/>
            <a:ext cx="5267089" cy="36830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4000" b="1"/>
              <a:t>解决</a:t>
            </a:r>
            <a:r>
              <a:rPr lang="zh-CN" altLang="en-US" sz="4000" b="1">
                <a:cs typeface="Arial" panose="020B0604020202020204" pitchFamily="34" charset="0"/>
              </a:rPr>
              <a:t>中文乱码</a:t>
            </a:r>
            <a:endParaRPr lang="zh-CN" altLang="en-US" sz="4000" b="1"/>
          </a:p>
        </p:txBody>
      </p:sp>
      <p:sp>
        <p:nvSpPr>
          <p:cNvPr id="4" name="文本框 3"/>
          <p:cNvSpPr txBox="1"/>
          <p:nvPr userDrawn="1"/>
        </p:nvSpPr>
        <p:spPr>
          <a:xfrm>
            <a:off x="357599" y="942094"/>
            <a:ext cx="13893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一</a:t>
            </a:r>
            <a:r>
              <a:rPr lang="zh-CN" altLang="en-US">
                <a:cs typeface="Arial" panose="020B0604020202020204" pitchFamily="34" charset="0"/>
              </a:rPr>
              <a:t>、</a:t>
            </a:r>
            <a:r>
              <a:rPr lang="en-US" altLang="zh-CN">
                <a:cs typeface="Arial" panose="020B0604020202020204" pitchFamily="34" charset="0"/>
              </a:rPr>
              <a:t>jsp</a:t>
            </a:r>
            <a:r>
              <a:rPr lang="zh-CN" altLang="en-US">
                <a:cs typeface="Arial" panose="020B0604020202020204" pitchFamily="34" charset="0"/>
              </a:rPr>
              <a:t>页面</a:t>
            </a:r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202630" y="1403663"/>
            <a:ext cx="24053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>
                <a:cs typeface="Arial" panose="020B0604020202020204" pitchFamily="34" charset="0"/>
              </a:rPr>
              <a:t>               </a:t>
            </a:r>
            <a:r>
              <a:rPr lang="zh-CN" altLang="en-US">
                <a:cs typeface="Arial" panose="020B0604020202020204" pitchFamily="34" charset="0"/>
              </a:rPr>
              <a:t>点击</a:t>
            </a:r>
            <a:r>
              <a:rPr lang="en-US" altLang="zh-CN">
                <a:cs typeface="Arial" panose="020B0604020202020204" pitchFamily="34" charset="0"/>
              </a:rPr>
              <a:t>Window</a:t>
            </a:r>
            <a:endParaRPr lang="zh-CN" altLang="en-US"/>
          </a:p>
        </p:txBody>
      </p:sp>
      <p:cxnSp>
        <p:nvCxnSpPr>
          <p:cNvPr id="7" name="直接箭头连接符 6"/>
          <p:cNvCxnSpPr/>
          <p:nvPr userDrawn="1"/>
        </p:nvCxnSpPr>
        <p:spPr>
          <a:xfrm>
            <a:off x="1874675" y="1773261"/>
            <a:ext cx="0" cy="251663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 userDrawn="1"/>
        </p:nvSpPr>
        <p:spPr>
          <a:xfrm>
            <a:off x="236058" y="2065099"/>
            <a:ext cx="32772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展开</a:t>
            </a:r>
            <a:r>
              <a:rPr lang="en-US" altLang="zh-CN"/>
              <a:t>General</a:t>
            </a:r>
            <a:r>
              <a:rPr lang="zh-CN" altLang="en-US"/>
              <a:t>并点击</a:t>
            </a:r>
            <a:r>
              <a:rPr lang="en-US" altLang="zh-CN"/>
              <a:t>Workspace</a:t>
            </a:r>
            <a:endParaRPr lang="zh-CN" altLang="en-US"/>
          </a:p>
        </p:txBody>
      </p:sp>
      <p:pic>
        <p:nvPicPr>
          <p:cNvPr id="9" name="图片 8" descr="post_object_image_26173584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30" y="2316116"/>
            <a:ext cx="4042960" cy="3322798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202630" y="5835549"/>
            <a:ext cx="6463097" cy="922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/>
              <a:t>在</a:t>
            </a:r>
            <a:r>
              <a:rPr lang="en-US" altLang="zh-CN"/>
              <a:t>jsp</a:t>
            </a:r>
            <a:r>
              <a:rPr lang="zh-CN" altLang="en-US"/>
              <a:t>页面加上：</a:t>
            </a:r>
            <a:r>
              <a:rPr lang="en-US" altLang="zh-CN"/>
              <a:t>&lt;%@ page language="java" contentType="text/html; charset=UTF-8"</a:t>
            </a:r>
            <a:endParaRPr lang="en-US" altLang="zh-CN"/>
          </a:p>
          <a:p>
            <a:pPr algn="l"/>
            <a:r>
              <a:rPr lang="en-US" altLang="zh-CN"/>
              <a:t>    pageEncoding="UTF-8"%&gt;</a:t>
            </a:r>
            <a:endParaRPr lang="en-US" altLang="zh-CN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418884" y="942057"/>
            <a:ext cx="15290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二</a:t>
            </a:r>
            <a:r>
              <a:rPr lang="zh-CN" altLang="en-US">
                <a:cs typeface="Arial" panose="020B0604020202020204" pitchFamily="34" charset="0"/>
              </a:rPr>
              <a:t>、</a:t>
            </a:r>
            <a:r>
              <a:rPr lang="en-US" altLang="zh-CN">
                <a:cs typeface="Arial" panose="020B0604020202020204" pitchFamily="34" charset="0"/>
              </a:rPr>
              <a:t>html</a:t>
            </a:r>
            <a:r>
              <a:rPr lang="zh-CN" altLang="en-US">
                <a:cs typeface="Arial" panose="020B0604020202020204" pitchFamily="34" charset="0"/>
              </a:rPr>
              <a:t>页面</a:t>
            </a:r>
            <a:endParaRPr lang="zh-CN" altLang="en-US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418893" y="1403647"/>
            <a:ext cx="2953143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/>
              <a:t>在页面的&lt;</a:t>
            </a:r>
            <a:r>
              <a:rPr lang="en-US" altLang="zh-CN"/>
              <a:t>head&gt;</a:t>
            </a:r>
            <a:r>
              <a:rPr lang="zh-CN" altLang="en-US"/>
              <a:t>标签内添加&lt;</a:t>
            </a:r>
            <a:r>
              <a:rPr lang="en-US" altLang="zh-CN"/>
              <a:t>meta&gt;</a:t>
            </a:r>
            <a:r>
              <a:rPr lang="zh-CN" altLang="en-US"/>
              <a:t>标签，内容如下</a:t>
            </a:r>
            <a:endParaRPr lang="zh-CN" altLang="en-US"/>
          </a:p>
        </p:txBody>
      </p:sp>
      <p:pic>
        <p:nvPicPr>
          <p:cNvPr id="19" name="图片 18" descr="post_object_image_37675421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893" y="2114521"/>
            <a:ext cx="4198750" cy="320147"/>
          </a:xfrm>
          <a:prstGeom prst="rect">
            <a:avLst/>
          </a:prstGeom>
        </p:spPr>
      </p:pic>
      <p:sp>
        <p:nvSpPr>
          <p:cNvPr id="20" name="文本框 19"/>
          <p:cNvSpPr txBox="1"/>
          <p:nvPr userDrawn="1"/>
        </p:nvSpPr>
        <p:spPr>
          <a:xfrm>
            <a:off x="4418893" y="2686959"/>
            <a:ext cx="3383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/>
              <a:t>三</a:t>
            </a:r>
            <a:r>
              <a:rPr lang="zh-CN" altLang="en-US">
                <a:cs typeface="Arial" panose="020B0604020202020204" pitchFamily="34" charset="0"/>
              </a:rPr>
              <a:t>、客户端和服务器端传输乱码</a:t>
            </a:r>
            <a:endParaRPr lang="zh-CN" altLang="en-US">
              <a:cs typeface="Arial" panose="020B0604020202020204" pitchFamily="34" charset="0"/>
            </a:endParaRPr>
          </a:p>
        </p:txBody>
      </p:sp>
      <p:pic>
        <p:nvPicPr>
          <p:cNvPr id="21" name="图片 20" descr="post_object_image_29362769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893" y="3889941"/>
            <a:ext cx="6153150" cy="155257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4418893" y="3244255"/>
            <a:ext cx="11480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/>
              <a:t>利用</a:t>
            </a:r>
            <a:r>
              <a:rPr lang="en-US" altLang="zh-CN"/>
              <a:t>Filter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 userDrawn="1"/>
        </p:nvSpPr>
        <p:spPr>
          <a:xfrm>
            <a:off x="623570" y="1143000"/>
            <a:ext cx="24136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/>
              <a:t>修改 </a:t>
            </a:r>
            <a:r>
              <a:rPr lang="en-US" altLang="zh-CN"/>
              <a:t>Tomcat </a:t>
            </a:r>
            <a:r>
              <a:rPr lang="zh-CN" altLang="en-US"/>
              <a:t>配置文件</a:t>
            </a:r>
            <a:endParaRPr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623553" y="1644963"/>
            <a:ext cx="10576562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>
                <a:solidFill>
                  <a:srgbClr val="000000"/>
                </a:solidFill>
              </a:rPr>
              <a:t>在</a:t>
            </a:r>
            <a:r>
              <a:rPr lang="en-US" altLang="zh-CN">
                <a:solidFill>
                  <a:srgbClr val="000000"/>
                </a:solidFill>
              </a:rPr>
              <a:t>tomcat</a:t>
            </a:r>
            <a:r>
              <a:rPr lang="zh-CN" altLang="en-US">
                <a:solidFill>
                  <a:srgbClr val="000000"/>
                </a:solidFill>
              </a:rPr>
              <a:t>安装目录下 &gt; </a:t>
            </a:r>
            <a:r>
              <a:rPr lang="en-US" altLang="zh-CN">
                <a:solidFill>
                  <a:srgbClr val="000000"/>
                </a:solidFill>
              </a:rPr>
              <a:t>conf &gt; server.xml，</a:t>
            </a:r>
            <a:r>
              <a:rPr lang="zh-CN" altLang="en-US">
                <a:solidFill>
                  <a:srgbClr val="000000"/>
                </a:solidFill>
              </a:rPr>
              <a:t>在</a:t>
            </a:r>
            <a:r>
              <a:rPr lang="en-US" altLang="zh-CN">
                <a:solidFill>
                  <a:srgbClr val="000000"/>
                </a:solidFill>
              </a:rPr>
              <a:t>server.xml</a:t>
            </a:r>
            <a:r>
              <a:rPr lang="zh-CN" altLang="en-US">
                <a:solidFill>
                  <a:srgbClr val="000000"/>
                </a:solidFill>
              </a:rPr>
              <a:t>文件中找到</a:t>
            </a:r>
            <a:r>
              <a:rPr lang="en-US" altLang="zh-CN">
                <a:solidFill>
                  <a:srgbClr val="000000"/>
                </a:solidFill>
              </a:rPr>
              <a:t>Connector port="8080"</a:t>
            </a:r>
            <a:r>
              <a:rPr lang="zh-CN" altLang="en-US">
                <a:solidFill>
                  <a:srgbClr val="000000"/>
                </a:solidFill>
              </a:rPr>
              <a:t>所在的标签，在标签内部添加</a:t>
            </a:r>
            <a:r>
              <a:rPr lang="en-US" altLang="zh-CN">
                <a:solidFill>
                  <a:srgbClr val="000000"/>
                </a:solidFill>
              </a:rPr>
              <a:t>URIEncoding="utf-8"，</a:t>
            </a:r>
            <a:r>
              <a:rPr lang="zh-CN" altLang="en-US">
                <a:solidFill>
                  <a:srgbClr val="000000"/>
                </a:solidFill>
              </a:rPr>
              <a:t>添加后为</a:t>
            </a:r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5" name="图片 4" descr="post_object_image_11280383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53" y="2448793"/>
            <a:ext cx="4895850" cy="1438275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317037" y="4431392"/>
            <a:ext cx="7152768" cy="188938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 sz="2400">
                <a:highlight>
                  <a:srgbClr val="FFFF00"/>
                </a:highlight>
              </a:rPr>
              <a:t>AI</a:t>
            </a:r>
            <a:r>
              <a:rPr lang="zh-CN" altLang="en-US" sz="2400">
                <a:highlight>
                  <a:srgbClr val="FFFF00"/>
                </a:highlight>
                <a:cs typeface="Arial" panose="020B0604020202020204" pitchFamily="34" charset="0"/>
              </a:rPr>
              <a:t>提示词</a:t>
            </a:r>
            <a:r>
              <a:rPr lang="zh-CN" altLang="en-US">
                <a:cs typeface="Arial" panose="020B0604020202020204" pitchFamily="34" charset="0"/>
              </a:rPr>
              <a:t>：</a:t>
            </a:r>
            <a:r>
              <a:rPr lang="en-US" altLang="zh-CN">
                <a:cs typeface="Arial" panose="020B0604020202020204" pitchFamily="34" charset="0"/>
              </a:rPr>
              <a:t>1.</a:t>
            </a:r>
            <a:r>
              <a:rPr lang="zh-CN" altLang="en-US">
                <a:cs typeface="Arial" panose="020B0604020202020204" pitchFamily="34" charset="0"/>
              </a:rPr>
              <a:t>在</a:t>
            </a:r>
            <a:r>
              <a:rPr lang="en-US" altLang="zh-CN">
                <a:cs typeface="Arial" panose="020B0604020202020204" pitchFamily="34" charset="0"/>
              </a:rPr>
              <a:t>javaweb</a:t>
            </a:r>
            <a:r>
              <a:rPr lang="zh-CN" altLang="en-US">
                <a:cs typeface="Arial" panose="020B0604020202020204" pitchFamily="34" charset="0"/>
              </a:rPr>
              <a:t>中有多少种关于中文乱码的情况</a:t>
            </a:r>
            <a:endParaRPr lang="zh-CN" altLang="en-US">
              <a:cs typeface="Arial" panose="020B0604020202020204" pitchFamily="34" charset="0"/>
            </a:endParaRPr>
          </a:p>
          <a:p>
            <a:pPr algn="l"/>
            <a:r>
              <a:rPr lang="en-US" altLang="zh-CN">
                <a:cs typeface="Arial" panose="020B0604020202020204" pitchFamily="34" charset="0"/>
              </a:rPr>
              <a:t>2.</a:t>
            </a:r>
            <a:r>
              <a:rPr lang="zh-CN" altLang="en-US">
                <a:cs typeface="Arial" panose="020B0604020202020204" pitchFamily="34" charset="0"/>
              </a:rPr>
              <a:t>在</a:t>
            </a:r>
            <a:r>
              <a:rPr lang="en-US" altLang="zh-CN">
                <a:cs typeface="Arial" panose="020B0604020202020204" pitchFamily="34" charset="0"/>
              </a:rPr>
              <a:t>javaweb</a:t>
            </a:r>
            <a:r>
              <a:rPr lang="zh-CN" altLang="en-US">
                <a:cs typeface="Arial" panose="020B0604020202020204" pitchFamily="34" charset="0"/>
              </a:rPr>
              <a:t>中解决中文乱码的方法有什么</a:t>
            </a:r>
            <a:endParaRPr lang="zh-CN" altLang="en-US">
              <a:cs typeface="Arial" panose="020B0604020202020204" pitchFamily="34" charset="0"/>
            </a:endParaRPr>
          </a:p>
          <a:p>
            <a:pPr algn="l"/>
            <a:r>
              <a:rPr lang="en-US" altLang="zh-CN">
                <a:cs typeface="Arial" panose="020B0604020202020204" pitchFamily="34" charset="0"/>
              </a:rPr>
              <a:t>3.</a:t>
            </a:r>
            <a:r>
              <a:rPr lang="zh-CN" altLang="en-US">
                <a:cs typeface="Arial" panose="020B0604020202020204" pitchFamily="34" charset="0"/>
              </a:rPr>
              <a:t>使用过滤器统一编码的要点有什么</a:t>
            </a:r>
            <a:endParaRPr lang="zh-CN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4274715" y="0"/>
            <a:ext cx="3826476" cy="79670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4800"/>
              <a:t>JavaBean</a:t>
            </a:r>
            <a:endParaRPr lang="zh-CN" altLang="en-US" sz="4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0789" y="2149176"/>
            <a:ext cx="6974963" cy="3172822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0" y="3612711"/>
            <a:ext cx="4417059" cy="85083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000" b="1"/>
              <a:t>Getter/Setter </a:t>
            </a:r>
            <a:r>
              <a:rPr lang="zh-CN" altLang="en-US" sz="2000" b="1"/>
              <a:t>方法：</a:t>
            </a:r>
            <a:r>
              <a:rPr lang="zh-CN" altLang="en-US"/>
              <a:t>必须为每个私有属性提供公共的 </a:t>
            </a:r>
            <a:r>
              <a:rPr lang="en-US" altLang="zh-CN"/>
              <a:t>getXxx() </a:t>
            </a:r>
            <a:r>
              <a:rPr lang="zh-CN" altLang="en-US"/>
              <a:t>和 </a:t>
            </a:r>
            <a:r>
              <a:rPr lang="en-US" altLang="zh-CN"/>
              <a:t>setXxx() </a:t>
            </a:r>
            <a:r>
              <a:rPr lang="zh-CN" altLang="en-US"/>
              <a:t>方法，让外部可以安全地读取和修改这些属性。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0" y="796776"/>
            <a:ext cx="12192071" cy="157977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000" b="1"/>
              <a:t>主要</a:t>
            </a:r>
            <a:r>
              <a:rPr lang="zh-CN" altLang="en-US" sz="2000" b="1">
                <a:cs typeface="Arial" panose="020B0604020202020204" pitchFamily="34" charset="0"/>
              </a:rPr>
              <a:t>作用：</a:t>
            </a:r>
            <a:r>
              <a:rPr lang="en-US" altLang="zh-CN">
                <a:cs typeface="Arial" panose="020B0604020202020204" pitchFamily="34" charset="0"/>
              </a:rPr>
              <a:t>JavaBean </a:t>
            </a:r>
            <a:r>
              <a:rPr lang="zh-CN" altLang="en-US">
                <a:cs typeface="Arial" panose="020B0604020202020204" pitchFamily="34" charset="0"/>
              </a:rPr>
              <a:t>主要扮演 数据传输对象（</a:t>
            </a:r>
            <a:r>
              <a:rPr lang="en-US" altLang="zh-CN">
                <a:cs typeface="Arial" panose="020B0604020202020204" pitchFamily="34" charset="0"/>
              </a:rPr>
              <a:t>DTO</a:t>
            </a:r>
            <a:r>
              <a:rPr lang="zh-CN" altLang="en-US">
                <a:cs typeface="Arial" panose="020B0604020202020204" pitchFamily="34" charset="0"/>
              </a:rPr>
              <a:t>）的角色。例如，从数据库查询出一条学生记录，会把这条记录的所有信息（</a:t>
            </a:r>
            <a:r>
              <a:rPr lang="en-US" altLang="zh-CN">
                <a:cs typeface="Arial" panose="020B0604020202020204" pitchFamily="34" charset="0"/>
              </a:rPr>
              <a:t>ID</a:t>
            </a:r>
            <a:r>
              <a:rPr lang="zh-CN" altLang="en-US">
                <a:cs typeface="Arial" panose="020B0604020202020204" pitchFamily="34" charset="0"/>
              </a:rPr>
              <a:t>、姓名、年龄等）封装到一个 </a:t>
            </a:r>
            <a:r>
              <a:rPr lang="en-US" altLang="zh-CN">
                <a:cs typeface="Arial" panose="020B0604020202020204" pitchFamily="34" charset="0"/>
              </a:rPr>
              <a:t>Student </a:t>
            </a:r>
            <a:r>
              <a:rPr lang="zh-CN" altLang="en-US">
                <a:cs typeface="Arial" panose="020B0604020202020204" pitchFamily="34" charset="0"/>
              </a:rPr>
              <a:t>对象（也就是一个 </a:t>
            </a:r>
            <a:r>
              <a:rPr lang="en-US" altLang="zh-CN">
                <a:cs typeface="Arial" panose="020B0604020202020204" pitchFamily="34" charset="0"/>
              </a:rPr>
              <a:t>JavaBean</a:t>
            </a:r>
            <a:r>
              <a:rPr lang="zh-CN" altLang="en-US">
                <a:cs typeface="Arial" panose="020B0604020202020204" pitchFamily="34" charset="0"/>
              </a:rPr>
              <a:t>）里，然后在不同的代码层（比如 </a:t>
            </a:r>
            <a:r>
              <a:rPr lang="en-US" altLang="zh-CN">
                <a:cs typeface="Arial" panose="020B0604020202020204" pitchFamily="34" charset="0"/>
              </a:rPr>
              <a:t>Servlet </a:t>
            </a:r>
            <a:r>
              <a:rPr lang="zh-CN" altLang="en-US">
                <a:cs typeface="Arial" panose="020B0604020202020204" pitchFamily="34" charset="0"/>
              </a:rPr>
              <a:t>和 </a:t>
            </a:r>
            <a:r>
              <a:rPr lang="en-US" altLang="zh-CN">
                <a:cs typeface="Arial" panose="020B0604020202020204" pitchFamily="34" charset="0"/>
              </a:rPr>
              <a:t>DAO</a:t>
            </a:r>
            <a:r>
              <a:rPr lang="zh-CN" altLang="en-US">
                <a:cs typeface="Arial" panose="020B0604020202020204" pitchFamily="34" charset="0"/>
              </a:rPr>
              <a:t>）之间传递这个对象，而不是零散地传递一个个数据。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6605908" y="5463381"/>
            <a:ext cx="26974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/>
              <a:t>Getter/Setter </a:t>
            </a:r>
            <a:r>
              <a:rPr lang="zh-CN" altLang="en-US"/>
              <a:t>方法实例图</a:t>
            </a:r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0" y="3181407"/>
            <a:ext cx="4274682" cy="145764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400"/>
              <a:t>1.</a:t>
            </a:r>
            <a:endParaRPr lang="zh-CN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0" y="0"/>
            <a:ext cx="43688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2400"/>
              <a:t>2.</a:t>
            </a:r>
            <a:endParaRPr lang="zh-CN" altLang="en-US" sz="240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0" y="460945"/>
            <a:ext cx="2953644" cy="1419598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 sz="2000" b="1"/>
              <a:t>私有属性：</a:t>
            </a:r>
            <a:r>
              <a:rPr lang="zh-CN" altLang="en-US"/>
              <a:t>类里面的成员变量（比如学生的姓名、年龄）都必须是 </a:t>
            </a:r>
            <a:r>
              <a:rPr lang="en-US" altLang="zh-CN"/>
              <a:t>private </a:t>
            </a:r>
            <a:r>
              <a:rPr lang="zh-CN" altLang="en-US"/>
              <a:t>的，确保数据不会被外部随意修改。</a:t>
            </a:r>
            <a:endParaRPr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0" y="2757748"/>
            <a:ext cx="3604761" cy="17146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400"/>
              <a:t>3.</a:t>
            </a:r>
            <a:endParaRPr lang="en-US" altLang="zh-CN" sz="2400"/>
          </a:p>
          <a:p>
            <a:r>
              <a:rPr lang="zh-CN" altLang="en-US" sz="2000" b="1"/>
              <a:t>无参构造函数：</a:t>
            </a:r>
            <a:r>
              <a:rPr lang="zh-CN" altLang="en-US"/>
              <a:t>必须有一个不带任何参数的 </a:t>
            </a:r>
            <a:r>
              <a:rPr lang="en-US" altLang="zh-CN"/>
              <a:t>public </a:t>
            </a:r>
            <a:r>
              <a:rPr lang="zh-CN" altLang="en-US"/>
              <a:t>构造方法，这样框架才能方便地创建它的实例。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3472" y="147721"/>
            <a:ext cx="4296074" cy="1862899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6641294" y="2010652"/>
            <a:ext cx="17830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私有属性实例图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557" y="3238619"/>
            <a:ext cx="4198661" cy="1233751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6641338" y="4703732"/>
            <a:ext cx="2240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无</a:t>
            </a:r>
            <a:r>
              <a:rPr lang="zh-CN" altLang="en-US">
                <a:cs typeface="Arial" panose="020B0604020202020204" pitchFamily="34" charset="0"/>
              </a:rPr>
              <a:t>参构造函数实例图</a:t>
            </a:r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1494268" y="4388816"/>
            <a:ext cx="1746911" cy="2299755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 sz="2000" b="1">
                <a:highlight>
                  <a:srgbClr val="FFFF00"/>
                </a:highlight>
              </a:rPr>
              <a:t>AI</a:t>
            </a:r>
            <a:r>
              <a:rPr lang="zh-CN" altLang="en-US" sz="2000" b="1">
                <a:highlight>
                  <a:srgbClr val="FFFF00"/>
                </a:highlight>
              </a:rPr>
              <a:t>提示词：</a:t>
            </a:r>
            <a:endParaRPr lang="zh-CN" altLang="en-US" sz="2000" b="1">
              <a:highlight>
                <a:srgbClr val="FFFF00"/>
              </a:highlight>
            </a:endParaRPr>
          </a:p>
          <a:p>
            <a:pPr algn="l"/>
            <a:r>
              <a:rPr lang="en-US" altLang="zh-CN"/>
              <a:t>1.JavaBean</a:t>
            </a:r>
            <a:endParaRPr lang="en-US" altLang="zh-CN"/>
          </a:p>
          <a:p>
            <a:pPr algn="l"/>
            <a:r>
              <a:rPr lang="zh-CN" altLang="en-US"/>
              <a:t>数据载体</a:t>
            </a:r>
            <a:endParaRPr lang="zh-CN" altLang="en-US"/>
          </a:p>
          <a:p>
            <a:pPr algn="l"/>
            <a:r>
              <a:rPr lang="zh-CN" altLang="en-US"/>
              <a:t>封装</a:t>
            </a:r>
            <a:endParaRPr lang="zh-CN" altLang="en-US"/>
          </a:p>
          <a:p>
            <a:pPr algn="l"/>
            <a:r>
              <a:rPr lang="en-US" altLang="zh-CN"/>
              <a:t>2.getter/setter</a:t>
            </a:r>
            <a:endParaRPr lang="en-US" altLang="zh-CN"/>
          </a:p>
          <a:p>
            <a:pPr algn="l"/>
            <a:r>
              <a:rPr lang="en-US" altLang="zh-CN"/>
              <a:t>3.</a:t>
            </a:r>
            <a:r>
              <a:rPr lang="zh-CN" altLang="en-US"/>
              <a:t>私有属性</a:t>
            </a:r>
            <a:endParaRPr lang="zh-CN" altLang="en-US"/>
          </a:p>
          <a:p>
            <a:pPr algn="l"/>
            <a:r>
              <a:rPr lang="en-US" altLang="zh-CN"/>
              <a:t>4.</a:t>
            </a:r>
            <a:r>
              <a:rPr lang="zh-CN" altLang="en-US"/>
              <a:t>无参构造方法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 userDrawn="1"/>
        </p:nvSpPr>
        <p:spPr>
          <a:xfrm>
            <a:off x="691868" y="755462"/>
            <a:ext cx="10808335" cy="39878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2000" b="1">
                <a:latin typeface="黑体" charset="0"/>
                <a:ea typeface="黑体" charset="0"/>
                <a:cs typeface="黑体" charset="0"/>
              </a:rPr>
              <a:t>生命周期由</a:t>
            </a:r>
            <a:r>
              <a:rPr lang="en-US" altLang="zh-CN" sz="2000" b="1">
                <a:latin typeface="黑体" charset="0"/>
                <a:ea typeface="黑体" charset="0"/>
                <a:cs typeface="黑体" charset="0"/>
              </a:rPr>
              <a:t>Tomca</a:t>
            </a:r>
            <a:r>
              <a:rPr lang="zh-CN" altLang="en-US" sz="2000" b="1">
                <a:latin typeface="黑体" charset="0"/>
                <a:ea typeface="黑体" charset="0"/>
                <a:cs typeface="黑体" charset="0"/>
              </a:rPr>
              <a:t>容器全权接管，整体分为：实例化—</a:t>
            </a:r>
            <a:r>
              <a:rPr lang="en-US" altLang="zh-CN" sz="2000" b="1">
                <a:latin typeface="黑体" charset="0"/>
                <a:ea typeface="黑体" charset="0"/>
                <a:cs typeface="黑体" charset="0"/>
              </a:rPr>
              <a:t>&gt;</a:t>
            </a:r>
            <a:r>
              <a:rPr lang="zh-CN" altLang="en-US" sz="2000" b="1">
                <a:latin typeface="黑体" charset="0"/>
                <a:ea typeface="黑体" charset="0"/>
                <a:cs typeface="黑体" charset="0"/>
              </a:rPr>
              <a:t>初始化—</a:t>
            </a:r>
            <a:r>
              <a:rPr lang="en-US" altLang="zh-CN" sz="2000" b="1">
                <a:latin typeface="黑体" charset="0"/>
                <a:ea typeface="黑体" charset="0"/>
                <a:cs typeface="黑体" charset="0"/>
              </a:rPr>
              <a:t>&gt;</a:t>
            </a:r>
            <a:r>
              <a:rPr lang="zh-CN" altLang="en-US" sz="2000" b="1">
                <a:latin typeface="黑体" charset="0"/>
                <a:ea typeface="黑体" charset="0"/>
                <a:cs typeface="黑体" charset="0"/>
              </a:rPr>
              <a:t>服务调用—</a:t>
            </a:r>
            <a:r>
              <a:rPr lang="en-US" altLang="zh-CN" sz="2000" b="1">
                <a:latin typeface="黑体" charset="0"/>
                <a:ea typeface="黑体" charset="0"/>
                <a:cs typeface="黑体" charset="0"/>
              </a:rPr>
              <a:t>&gt;</a:t>
            </a:r>
            <a:r>
              <a:rPr lang="zh-CN" altLang="en-US" sz="2000" b="1">
                <a:latin typeface="黑体" charset="0"/>
                <a:ea typeface="黑体" charset="0"/>
                <a:cs typeface="黑体" charset="0"/>
              </a:rPr>
              <a:t>销毁四个阶</a:t>
            </a:r>
            <a:r>
              <a:rPr lang="zh-CN" altLang="en-US" sz="2000">
                <a:cs typeface="Arial" panose="020B0604020202020204" pitchFamily="34" charset="0"/>
              </a:rPr>
              <a:t>段</a:t>
            </a:r>
            <a:endParaRPr lang="zh-CN" altLang="en-US" sz="200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rcRect t="18623"/>
          <a:stretch>
            <a:fillRect/>
          </a:stretch>
        </p:blipFill>
        <p:spPr>
          <a:xfrm>
            <a:off x="505967" y="2403227"/>
            <a:ext cx="4986046" cy="3906594"/>
          </a:xfrm>
          <a:prstGeom prst="rect">
            <a:avLst/>
          </a:prstGeom>
        </p:spPr>
      </p:pic>
      <p:sp>
        <p:nvSpPr>
          <p:cNvPr id="21" name="文本框 20"/>
          <p:cNvSpPr txBox="1"/>
          <p:nvPr userDrawn="1"/>
        </p:nvSpPr>
        <p:spPr>
          <a:xfrm>
            <a:off x="5766620" y="1509193"/>
            <a:ext cx="5951684" cy="2381381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 b="1"/>
              <a:t>核心作用</a:t>
            </a:r>
            <a:r>
              <a:rPr lang="zh-CN" altLang="en-US" sz="2400"/>
              <a:t>：</a:t>
            </a:r>
            <a:r>
              <a:rPr lang="en-US" altLang="zh-CN" sz="2400"/>
              <a:t>1.Tomcat</a:t>
            </a:r>
            <a:r>
              <a:rPr lang="zh-CN" altLang="en-US" sz="2400"/>
              <a:t>扫描@</a:t>
            </a:r>
            <a:r>
              <a:rPr lang="en-US" altLang="zh-CN" sz="2400"/>
              <a:t>webServlet</a:t>
            </a:r>
            <a:r>
              <a:rPr lang="zh-CN" altLang="en-US" sz="2400"/>
              <a:t>注解，找到当前类。</a:t>
            </a:r>
            <a:endParaRPr lang="zh-CN" altLang="en-US" sz="2400"/>
          </a:p>
          <a:p>
            <a:r>
              <a:rPr lang="zh-CN" altLang="en-US" sz="2400"/>
              <a:t>                  </a:t>
            </a:r>
            <a:r>
              <a:rPr lang="en-US" altLang="zh-CN" sz="2400"/>
              <a:t>2.</a:t>
            </a:r>
            <a:r>
              <a:rPr lang="zh-CN" altLang="en-US" sz="2400"/>
              <a:t>调用无参构造方法创建</a:t>
            </a:r>
            <a:r>
              <a:rPr lang="en-US" altLang="zh-CN" sz="2400"/>
              <a:t>Servlet</a:t>
            </a:r>
            <a:r>
              <a:rPr lang="zh-CN" altLang="en-US" sz="2400"/>
              <a:t>唯一实例。</a:t>
            </a:r>
            <a:endParaRPr lang="zh-CN" altLang="en-US" sz="2400"/>
          </a:p>
          <a:p>
            <a:r>
              <a:rPr lang="zh-CN" altLang="en-US" sz="2400"/>
              <a:t>                  </a:t>
            </a:r>
            <a:r>
              <a:rPr lang="en-US" altLang="zh-CN" sz="2400"/>
              <a:t>3.</a:t>
            </a:r>
            <a:r>
              <a:rPr lang="zh-CN" altLang="en-US" sz="2400"/>
              <a:t>同时初始化成员变量</a:t>
            </a:r>
            <a:r>
              <a:rPr lang="en-US" altLang="zh-CN" sz="2400"/>
              <a:t>dao</a:t>
            </a:r>
            <a:r>
              <a:rPr lang="zh-CN" altLang="en-US" sz="2400"/>
              <a:t>，全局只</a:t>
            </a:r>
            <a:r>
              <a:rPr lang="en-US" altLang="zh-CN" sz="2400"/>
              <a:t>new</a:t>
            </a:r>
            <a:r>
              <a:rPr lang="zh-CN" altLang="en-US" sz="2400"/>
              <a:t>一次。</a:t>
            </a:r>
            <a:endParaRPr lang="zh-CN" altLang="en-US" sz="2400"/>
          </a:p>
        </p:txBody>
      </p:sp>
      <p:sp>
        <p:nvSpPr>
          <p:cNvPr id="24" name="文本框 23"/>
          <p:cNvSpPr txBox="1"/>
          <p:nvPr userDrawn="1"/>
        </p:nvSpPr>
        <p:spPr>
          <a:xfrm>
            <a:off x="5691410" y="4531100"/>
            <a:ext cx="6500661" cy="115029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 b="1"/>
              <a:t>核心特点</a:t>
            </a:r>
            <a:r>
              <a:rPr lang="zh-CN" altLang="en-US" sz="2400"/>
              <a:t>：</a:t>
            </a:r>
            <a:r>
              <a:rPr lang="en-US" altLang="zh-CN" sz="2400"/>
              <a:t>1.</a:t>
            </a:r>
            <a:r>
              <a:rPr lang="zh-CN" altLang="en-US" sz="2400"/>
              <a:t>整个应用中只存在一个实例。</a:t>
            </a:r>
            <a:endParaRPr lang="zh-CN" altLang="en-US" sz="2400"/>
          </a:p>
          <a:p>
            <a:r>
              <a:rPr lang="zh-CN" altLang="en-US" sz="2400"/>
              <a:t>                  </a:t>
            </a:r>
            <a:r>
              <a:rPr lang="en-US" altLang="zh-CN" sz="2400"/>
              <a:t>2.</a:t>
            </a:r>
            <a:r>
              <a:rPr lang="zh-CN" altLang="en-US" sz="2400"/>
              <a:t>后续多次访问</a:t>
            </a:r>
            <a:r>
              <a:rPr lang="en-US" altLang="zh-CN" sz="2400"/>
              <a:t>/delete</a:t>
            </a:r>
            <a:r>
              <a:rPr lang="zh-CN" altLang="en-US" sz="2400"/>
              <a:t>，不会再执行构造方法。</a:t>
            </a:r>
            <a:endParaRPr lang="zh-CN" altLang="en-US" sz="240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388193" y="80619"/>
            <a:ext cx="7768448" cy="58541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4000" b="1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serlvet life cycle </a:t>
            </a:r>
            <a:endParaRPr lang="zh-CN" altLang="en-US" sz="4000" b="1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506008" y="1378871"/>
            <a:ext cx="1941718" cy="56114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zh-CN" altLang="en-US" sz="2400" b="1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实例化</a:t>
            </a:r>
            <a:endParaRPr lang="zh-CN" altLang="en-US" sz="2400" b="1">
              <a:solidFill>
                <a:schemeClr val="accent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 userDrawn="1"/>
        </p:nvSpPr>
        <p:spPr>
          <a:xfrm>
            <a:off x="0" y="0"/>
            <a:ext cx="5851909" cy="547541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1"/>
                </a:solidFill>
              </a:rPr>
              <a:t>2</a:t>
            </a:r>
            <a:r>
              <a:rPr lang="en-US" altLang="zh-CN" sz="2800" b="1">
                <a:solidFill>
                  <a:schemeClr val="accent1"/>
                </a:solidFill>
                <a:cs typeface="Arial" panose="020B0604020202020204" pitchFamily="34" charset="0"/>
              </a:rPr>
              <a:t>.</a:t>
            </a:r>
            <a:r>
              <a:rPr lang="zh-CN" altLang="en-US" sz="2800" b="1">
                <a:solidFill>
                  <a:schemeClr val="accent1"/>
                </a:solidFill>
                <a:cs typeface="Arial" panose="020B0604020202020204" pitchFamily="34" charset="0"/>
              </a:rPr>
              <a:t>初始化</a:t>
            </a:r>
            <a:r>
              <a:rPr lang="en-US" altLang="zh-CN" sz="2800" b="1">
                <a:solidFill>
                  <a:schemeClr val="accent1"/>
                </a:solidFill>
                <a:cs typeface="Arial" panose="020B0604020202020204" pitchFamily="34" charset="0"/>
              </a:rPr>
              <a:t>init</a:t>
            </a:r>
            <a:r>
              <a:rPr lang="zh-CN" altLang="en-US" sz="2800" b="1">
                <a:solidFill>
                  <a:schemeClr val="accent1"/>
                </a:solidFill>
                <a:cs typeface="Arial" panose="020B0604020202020204" pitchFamily="34" charset="0"/>
              </a:rPr>
              <a:t>（）（仅执行一次）</a:t>
            </a:r>
            <a:endParaRPr lang="zh-CN" altLang="en-US" sz="2800" b="1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0" y="1112637"/>
            <a:ext cx="9116399" cy="46101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/>
              <a:t>当前没有重写代码，使用父类</a:t>
            </a:r>
            <a:r>
              <a:rPr lang="en-US" altLang="zh-CN" sz="2400"/>
              <a:t>HTTP Servlet</a:t>
            </a:r>
            <a:r>
              <a:rPr lang="zh-CN" altLang="en-US" sz="2400"/>
              <a:t>的默认空实现。</a:t>
            </a:r>
            <a:endParaRPr lang="zh-CN" altLang="en-US" sz="240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0" y="1746490"/>
            <a:ext cx="231648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2400"/>
              <a:t>手动重写代码：</a:t>
            </a:r>
            <a:endParaRPr lang="zh-CN" altLang="en-US" sz="24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309672"/>
            <a:ext cx="7146227" cy="2523854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2493515" y="5749110"/>
            <a:ext cx="567182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2400" b="1"/>
              <a:t>核心</a:t>
            </a:r>
            <a:r>
              <a:rPr lang="zh-CN" altLang="en-US" sz="2400" b="1">
                <a:cs typeface="Arial" panose="020B0604020202020204" pitchFamily="34" charset="0"/>
              </a:rPr>
              <a:t>作用</a:t>
            </a:r>
            <a:r>
              <a:rPr lang="zh-CN" altLang="en-US" sz="2400">
                <a:cs typeface="Arial" panose="020B0604020202020204" pitchFamily="34" charset="0"/>
              </a:rPr>
              <a:t>：用来做全局一次性资源初始化</a:t>
            </a:r>
            <a:endParaRPr lang="zh-CN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 userDrawn="1"/>
        </p:nvSpPr>
        <p:spPr>
          <a:xfrm>
            <a:off x="0" y="0"/>
            <a:ext cx="10436225" cy="52197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3</a:t>
            </a:r>
            <a:r>
              <a:rPr lang="en-US" altLang="zh-CN" sz="2800">
                <a:solidFill>
                  <a:schemeClr val="accent1"/>
                </a:solidFill>
                <a:cs typeface="Arial" panose="020B0604020202020204" pitchFamily="34" charset="0"/>
              </a:rPr>
              <a:t>.</a:t>
            </a:r>
            <a:r>
              <a:rPr lang="zh-CN" altLang="en-US" sz="2800">
                <a:solidFill>
                  <a:schemeClr val="accent1"/>
                </a:solidFill>
              </a:rPr>
              <a:t>服务阶段</a:t>
            </a:r>
            <a:r>
              <a:rPr lang="zh-CN" altLang="en-US" sz="2800">
                <a:solidFill>
                  <a:schemeClr val="accent1"/>
                </a:solidFill>
              </a:rPr>
              <a:t>（这是业务逻辑所在阶段，也是执行次数最多的阶段）</a:t>
            </a:r>
            <a:endParaRPr lang="zh-CN" altLang="en-US" sz="2800">
              <a:solidFill>
                <a:schemeClr val="accent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930" y="975102"/>
            <a:ext cx="5544789" cy="4461729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6622210" y="975102"/>
            <a:ext cx="4910732" cy="202543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 b="1"/>
              <a:t>底层流程</a:t>
            </a:r>
            <a:r>
              <a:rPr lang="zh-CN" altLang="en-US" sz="2400"/>
              <a:t>：</a:t>
            </a:r>
            <a:endParaRPr lang="zh-CN" altLang="en-US" sz="2400"/>
          </a:p>
          <a:p>
            <a:r>
              <a:rPr lang="zh-CN" altLang="en-US" sz="2400">
                <a:cs typeface="Arial" panose="020B0604020202020204" pitchFamily="34" charset="0"/>
              </a:rPr>
              <a:t>客户端发请求 → </a:t>
            </a:r>
            <a:r>
              <a:rPr lang="en-US" altLang="zh-CN" sz="2400">
                <a:cs typeface="Arial" panose="020B0604020202020204" pitchFamily="34" charset="0"/>
              </a:rPr>
              <a:t>Tomcat </a:t>
            </a:r>
            <a:r>
              <a:rPr lang="zh-CN" altLang="en-US" sz="2400">
                <a:cs typeface="Arial" panose="020B0604020202020204" pitchFamily="34" charset="0"/>
              </a:rPr>
              <a:t>调用父类  </a:t>
            </a:r>
            <a:r>
              <a:rPr lang="en-US" altLang="zh-CN" sz="2400">
                <a:cs typeface="Arial" panose="020B0604020202020204" pitchFamily="34" charset="0"/>
              </a:rPr>
              <a:t>service()  </a:t>
            </a:r>
            <a:r>
              <a:rPr lang="zh-CN" altLang="en-US" sz="2400">
                <a:cs typeface="Arial" panose="020B0604020202020204" pitchFamily="34" charset="0"/>
              </a:rPr>
              <a:t>方法 → 自动区分请求方式</a:t>
            </a:r>
            <a:endParaRPr lang="zh-CN" altLang="en-US" sz="240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6622295" y="2714589"/>
            <a:ext cx="4910572" cy="2722171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 b="1"/>
              <a:t>核心特点</a:t>
            </a:r>
            <a:r>
              <a:rPr lang="zh-CN" altLang="en-US" sz="2400"/>
              <a:t>：</a:t>
            </a:r>
            <a:r>
              <a:rPr lang="en-US" altLang="zh-CN" sz="2400"/>
              <a:t>1</a:t>
            </a:r>
            <a:r>
              <a:rPr lang="en-US" altLang="zh-CN" sz="2400">
                <a:cs typeface="Arial" panose="020B0604020202020204" pitchFamily="34" charset="0"/>
              </a:rPr>
              <a:t>.</a:t>
            </a:r>
            <a:r>
              <a:rPr lang="zh-CN" altLang="en-US" sz="2400"/>
              <a:t>前端通过超链接、地址栏、</a:t>
            </a:r>
            <a:r>
              <a:rPr lang="en-US" altLang="zh-CN" sz="2400"/>
              <a:t>GET</a:t>
            </a:r>
            <a:r>
              <a:rPr lang="zh-CN" altLang="en-US" sz="2400"/>
              <a:t>表单发起请求，都会进入这里</a:t>
            </a:r>
            <a:endParaRPr lang="zh-CN" altLang="en-US" sz="2400"/>
          </a:p>
          <a:p>
            <a:r>
              <a:rPr lang="en-US" altLang="zh-CN" sz="2400"/>
              <a:t>2.</a:t>
            </a:r>
            <a:r>
              <a:rPr lang="zh-CN" altLang="en-US" sz="2400"/>
              <a:t>每点击一次删除、每发一次请求，该方法就执行一次</a:t>
            </a:r>
            <a:endParaRPr lang="zh-CN" altLang="en-US" sz="2400"/>
          </a:p>
          <a:p>
            <a:r>
              <a:rPr lang="en-US" altLang="zh-CN" sz="2400"/>
              <a:t>3.</a:t>
            </a:r>
            <a:r>
              <a:rPr lang="zh-CN" altLang="en-US" sz="2400"/>
              <a:t> 逻辑：获取参数</a:t>
            </a:r>
            <a:r>
              <a:rPr lang="en-US" altLang="zh-CN" sz="2400"/>
              <a:t>id → </a:t>
            </a:r>
            <a:r>
              <a:rPr lang="zh-CN" altLang="en-US" sz="2400"/>
              <a:t>执行删除 → 重定向刷新列表</a:t>
            </a:r>
            <a:endParaRPr lang="zh-CN" alt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0" y="0"/>
            <a:ext cx="4845050" cy="52197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4.</a:t>
            </a:r>
            <a:r>
              <a:rPr lang="zh-CN" altLang="en-US" sz="2800">
                <a:solidFill>
                  <a:schemeClr val="accent1"/>
                </a:solidFill>
                <a:cs typeface="Arial" panose="020B0604020202020204" pitchFamily="34" charset="0"/>
              </a:rPr>
              <a:t>销毁</a:t>
            </a:r>
            <a:r>
              <a:rPr lang="en-US" altLang="zh-CN" sz="2800">
                <a:solidFill>
                  <a:schemeClr val="accent1"/>
                </a:solidFill>
                <a:cs typeface="Arial" panose="020B0604020202020204" pitchFamily="34" charset="0"/>
              </a:rPr>
              <a:t>destroy</a:t>
            </a:r>
            <a:r>
              <a:rPr lang="zh-CN" altLang="en-US" sz="2800">
                <a:solidFill>
                  <a:schemeClr val="accent1"/>
                </a:solidFill>
                <a:cs typeface="Arial" panose="020B0604020202020204" pitchFamily="34" charset="0"/>
              </a:rPr>
              <a:t>（仅执行一次）</a:t>
            </a:r>
            <a:endParaRPr lang="zh-CN" altLang="en-US" sz="280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838220" y="1099860"/>
            <a:ext cx="445008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2400"/>
              <a:t>代码未重写，使用父类空实现。</a:t>
            </a:r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43" y="1774369"/>
            <a:ext cx="5697402" cy="2807326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6535624" y="1774369"/>
            <a:ext cx="4552472" cy="145764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 b="1"/>
              <a:t>核心作用</a:t>
            </a:r>
            <a:r>
              <a:rPr lang="zh-CN" altLang="en-US" sz="2400"/>
              <a:t>：释放资源（关闭数据库连接，销毁对象）</a:t>
            </a:r>
            <a:endParaRPr lang="zh-CN" altLang="en-US" sz="240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2586073" y="5596306"/>
            <a:ext cx="5688330" cy="82994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2400" b="1">
                <a:highlight>
                  <a:srgbClr val="FFFF00"/>
                </a:highlight>
              </a:rPr>
              <a:t>AI</a:t>
            </a:r>
            <a:r>
              <a:rPr lang="zh-CN" altLang="en-US" sz="2400" b="1">
                <a:highlight>
                  <a:srgbClr val="FFFF00"/>
                </a:highlight>
              </a:rPr>
              <a:t>提示词</a:t>
            </a:r>
            <a:r>
              <a:rPr lang="en-US" altLang="zh-CN" sz="2400" b="1">
                <a:highlight>
                  <a:srgbClr val="FFFF00"/>
                </a:highlight>
              </a:rPr>
              <a:t>:</a:t>
            </a:r>
            <a:r>
              <a:rPr lang="en-US" altLang="zh-CN" sz="2400" b="1"/>
              <a:t>  </a:t>
            </a:r>
            <a:r>
              <a:rPr lang="en-US" altLang="zh-CN" sz="2400"/>
              <a:t>1.</a:t>
            </a:r>
            <a:r>
              <a:rPr lang="zh-CN" altLang="en-US" sz="2400"/>
              <a:t>什么是</a:t>
            </a:r>
            <a:r>
              <a:rPr lang="en-US" altLang="zh-CN" sz="2400"/>
              <a:t>servlet life cycle </a:t>
            </a:r>
            <a:r>
              <a:rPr lang="zh-CN" altLang="en-US" sz="2400"/>
              <a:t>周期</a:t>
            </a:r>
            <a:endParaRPr lang="zh-CN" altLang="en-US" sz="2400"/>
          </a:p>
          <a:p>
            <a:r>
              <a:rPr lang="en-US" altLang="zh-CN" sz="2400"/>
              <a:t>                  2.</a:t>
            </a:r>
            <a:r>
              <a:rPr lang="zh-CN" altLang="en-US" sz="2400"/>
              <a:t>各个周期对应的作用</a:t>
            </a:r>
            <a:endParaRPr lang="zh-CN" altLang="en-US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5" y="0"/>
            <a:ext cx="12178266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8266" cy="68579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 userDrawn="1"/>
        </p:nvSpPr>
        <p:spPr>
          <a:xfrm>
            <a:off x="0" y="0"/>
            <a:ext cx="4433570" cy="80933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rgbClr val="FF0000"/>
                </a:solidFill>
              </a:rPr>
              <a:t>完成</a:t>
            </a:r>
            <a:r>
              <a:rPr lang="zh-CN" altLang="en-US" sz="2800">
                <a:solidFill>
                  <a:srgbClr val="FF0000"/>
                </a:solidFill>
                <a:cs typeface="Arial" panose="020B0604020202020204" pitchFamily="34" charset="0"/>
              </a:rPr>
              <a:t>分工情况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37208" y="879090"/>
            <a:ext cx="11917680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杨明阳：确定并完成学生信息管理系统，并将代码上传至</a:t>
            </a:r>
            <a:r>
              <a:rPr lang="en-US" altLang="zh-CN"/>
              <a:t>github</a:t>
            </a:r>
            <a:r>
              <a:rPr lang="zh-CN" altLang="en-US"/>
              <a:t>仓库，完成</a:t>
            </a:r>
            <a:r>
              <a:rPr lang="en-US" altLang="zh-CN"/>
              <a:t>MVC</a:t>
            </a:r>
            <a:r>
              <a:rPr lang="zh-CN" altLang="en-US"/>
              <a:t>模式讲解内容</a:t>
            </a:r>
            <a:r>
              <a:rPr lang="en-US" altLang="zh-CN"/>
              <a:t>ppt</a:t>
            </a:r>
            <a:r>
              <a:rPr lang="zh-CN" altLang="en-US"/>
              <a:t>制作，完成</a:t>
            </a:r>
            <a:r>
              <a:rPr lang="en-US" altLang="zh-CN"/>
              <a:t>ppt</a:t>
            </a:r>
            <a:r>
              <a:rPr lang="zh-CN" altLang="en-US"/>
              <a:t>基本布局</a:t>
            </a: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137248" y="1460500"/>
            <a:ext cx="4692255" cy="36830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张润洋：完成</a:t>
            </a:r>
            <a:r>
              <a:rPr lang="en-US" altLang="zh-CN"/>
              <a:t>Jsp model1/2</a:t>
            </a:r>
            <a:r>
              <a:rPr lang="zh-CN" altLang="en-US"/>
              <a:t>讲解内容</a:t>
            </a:r>
            <a:r>
              <a:rPr lang="en-US" altLang="zh-CN"/>
              <a:t>ppt</a:t>
            </a:r>
            <a:r>
              <a:rPr lang="zh-CN" altLang="en-US"/>
              <a:t>制作</a:t>
            </a:r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71806" y="2045916"/>
            <a:ext cx="42595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陈少奇：完成</a:t>
            </a:r>
            <a:r>
              <a:rPr lang="en-US" altLang="zh-CN"/>
              <a:t>JavaBean</a:t>
            </a:r>
            <a:r>
              <a:rPr lang="zh-CN" altLang="en-US"/>
              <a:t>讲解内容</a:t>
            </a:r>
            <a:r>
              <a:rPr lang="en-US" altLang="zh-CN"/>
              <a:t>ppt</a:t>
            </a:r>
            <a:r>
              <a:rPr lang="zh-CN" altLang="en-US"/>
              <a:t>制作</a:t>
            </a:r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171777" y="2632602"/>
            <a:ext cx="52374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徐</a:t>
            </a:r>
            <a:r>
              <a:rPr lang="zh-CN" altLang="en-US">
                <a:cs typeface="Arial" panose="020B0604020202020204" pitchFamily="34" charset="0"/>
              </a:rPr>
              <a:t>成祥：完成</a:t>
            </a:r>
            <a:r>
              <a:rPr lang="en-US" altLang="zh-CN">
                <a:cs typeface="Arial" panose="020B0604020202020204" pitchFamily="34" charset="0"/>
              </a:rPr>
              <a:t>httpservletresponse</a:t>
            </a:r>
            <a:r>
              <a:rPr lang="zh-CN" altLang="en-US">
                <a:cs typeface="Arial" panose="020B0604020202020204" pitchFamily="34" charset="0"/>
              </a:rPr>
              <a:t>讲解内容</a:t>
            </a:r>
            <a:r>
              <a:rPr lang="en-US" altLang="zh-CN">
                <a:cs typeface="Arial" panose="020B0604020202020204" pitchFamily="34" charset="0"/>
              </a:rPr>
              <a:t>ppt</a:t>
            </a:r>
            <a:r>
              <a:rPr lang="zh-CN" altLang="en-US">
                <a:cs typeface="Arial" panose="020B0604020202020204" pitchFamily="34" charset="0"/>
              </a:rPr>
              <a:t>制作</a:t>
            </a:r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171777" y="3244241"/>
            <a:ext cx="48310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>
                <a:cs typeface="Arial" panose="020B0604020202020204" pitchFamily="34" charset="0"/>
              </a:rPr>
              <a:t>董喾：完成</a:t>
            </a:r>
            <a:r>
              <a:rPr lang="en-US" altLang="zh-CN">
                <a:cs typeface="Arial" panose="020B0604020202020204" pitchFamily="34" charset="0"/>
              </a:rPr>
              <a:t>httpservletrequest</a:t>
            </a:r>
            <a:r>
              <a:rPr lang="zh-CN" altLang="en-US">
                <a:cs typeface="Arial" panose="020B0604020202020204" pitchFamily="34" charset="0"/>
              </a:rPr>
              <a:t>讲解内容</a:t>
            </a:r>
            <a:r>
              <a:rPr lang="en-US" altLang="zh-CN">
                <a:cs typeface="Arial" panose="020B0604020202020204" pitchFamily="34" charset="0"/>
              </a:rPr>
              <a:t>ppt</a:t>
            </a:r>
            <a:r>
              <a:rPr lang="zh-CN" altLang="en-US">
                <a:cs typeface="Arial" panose="020B0604020202020204" pitchFamily="34" charset="0"/>
              </a:rPr>
              <a:t>制作</a:t>
            </a:r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71777" y="4390799"/>
            <a:ext cx="5482303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周皓：完成对以上内容完整例子的介绍</a:t>
            </a:r>
            <a:r>
              <a:rPr lang="en-US" altLang="zh-CN"/>
              <a:t>ppt</a:t>
            </a:r>
            <a:r>
              <a:rPr lang="zh-CN" altLang="en-US"/>
              <a:t>制作</a:t>
            </a:r>
            <a:endParaRPr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71777" y="3856469"/>
            <a:ext cx="5482346" cy="291671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高</a:t>
            </a:r>
            <a:r>
              <a:rPr lang="zh-CN" altLang="en-US">
                <a:cs typeface="Arial" panose="020B0604020202020204" pitchFamily="34" charset="0"/>
              </a:rPr>
              <a:t>擎翔：完成</a:t>
            </a:r>
            <a:r>
              <a:rPr lang="en-US" altLang="zh-CN">
                <a:cs typeface="Arial" panose="020B0604020202020204" pitchFamily="34" charset="0"/>
              </a:rPr>
              <a:t>servlet life cycle</a:t>
            </a:r>
            <a:r>
              <a:rPr lang="zh-CN" altLang="en-US">
                <a:cs typeface="Arial" panose="020B0604020202020204" pitchFamily="34" charset="0"/>
              </a:rPr>
              <a:t>讲解内容</a:t>
            </a:r>
            <a:r>
              <a:rPr lang="en-US" altLang="zh-CN">
                <a:cs typeface="Arial" panose="020B0604020202020204" pitchFamily="34" charset="0"/>
              </a:rPr>
              <a:t>ppt</a:t>
            </a:r>
            <a:r>
              <a:rPr lang="zh-CN" altLang="en-US">
                <a:cs typeface="Arial" panose="020B0604020202020204" pitchFamily="34" charset="0"/>
              </a:rPr>
              <a:t>制作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3375</Words>
  <Application>WPS Office WWO_wpscloud_20260521192124-597ff31d3d</Application>
  <PresentationFormat>宽屏</PresentationFormat>
  <Paragraphs>220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宋体</vt:lpstr>
      <vt:lpstr>Wingdings</vt:lpstr>
      <vt:lpstr>Wingdings</vt:lpstr>
      <vt:lpstr>Kingsoft Confetti</vt:lpstr>
      <vt:lpstr>微软雅黑</vt:lpstr>
      <vt:lpstr>汉仪旗黑KW 55S</vt:lpstr>
      <vt:lpstr>微软雅黑</vt:lpstr>
      <vt:lpstr>黑体</vt:lpstr>
      <vt:lpstr>汉仪书宋二KW</vt:lpstr>
      <vt:lpstr>WPS灵秀黑</vt:lpstr>
      <vt:lpstr>WPS</vt:lpstr>
      <vt:lpstr>javaweb翻转课堂</vt:lpstr>
      <vt:lpstr>PowerPoint 演示文稿</vt:lpstr>
      <vt:lpstr>PowerPoint 演示文稿</vt:lpstr>
      <vt:lpstr>PowerPoint 演示文稿</vt:lpstr>
      <vt:lpstr>PowerPoint 演示文稿</vt:lpstr>
      <vt:lpstr>MVC模式</vt:lpstr>
      <vt:lpstr>HttpServletResponse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javaweb翻转课堂</dc:title>
  <dc:creator/>
  <cp:lastModifiedBy>绵羊</cp:lastModifiedBy>
  <dcterms:created xsi:type="dcterms:W3CDTF">2026-05-31T03:46:25Z</dcterms:created>
  <dcterms:modified xsi:type="dcterms:W3CDTF">2026-05-31T03:46:25Z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2052-12.9.0.26832</vt:lpwstr>
  </property>
  <property fmtid="{D5CDD505-2E9C-101B-9397-08002B2CF9AE}" pid="3" name="ICV">
    <vt:lpwstr>F6E8DA777BC54FA1B81D5E796B5A0D80_11</vt:lpwstr>
  </property>
</Properties>
</file>